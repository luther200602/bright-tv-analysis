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r>
              <a:rPr lang="en-ZA" sz="1200"/>
              <a:t>Viewership</a:t>
            </a:r>
            <a:r>
              <a:rPr lang="en-ZA" sz="1200" baseline="0"/>
              <a:t> By Channels </a:t>
            </a:r>
            <a:endParaRPr lang="en-ZA" sz="1200"/>
          </a:p>
        </c:rich>
      </c:tx>
      <c:overlay val="0"/>
      <c:spPr>
        <a:noFill/>
        <a:ln>
          <a:noFill/>
        </a:ln>
        <a:effectLst/>
      </c:spPr>
      <c:txPr>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endParaRPr lang="en-ZA"/>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dLbl>
          <c:idx val="0"/>
          <c:showLegendKey val="0"/>
          <c:showVal val="1"/>
          <c:showCatName val="1"/>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v>Total</c:v>
          </c:tx>
          <c:spPr>
            <a:gradFill>
              <a:gsLst>
                <a:gs pos="100000">
                  <a:schemeClr val="accent1">
                    <a:lumMod val="60000"/>
                    <a:lumOff val="40000"/>
                  </a:schemeClr>
                </a:gs>
                <a:gs pos="0">
                  <a:schemeClr val="accent1"/>
                </a:gs>
              </a:gsLst>
              <a:lin ang="5400000" scaled="0"/>
            </a:gra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Lit>
              <c:ptCount val="20"/>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SawSee</c:v>
              </c:pt>
              <c:pt idx="14">
                <c:v>SuperSport Blitz</c:v>
              </c:pt>
              <c:pt idx="15">
                <c:v>Supersport Live Events</c:v>
              </c:pt>
              <c:pt idx="16">
                <c:v>Trace TV</c:v>
              </c:pt>
              <c:pt idx="17">
                <c:v>Vuzu</c:v>
              </c:pt>
              <c:pt idx="18">
                <c:v>Wimbledon</c:v>
              </c:pt>
              <c:pt idx="19">
                <c:v>(blank)</c:v>
              </c:pt>
            </c:strLit>
          </c:cat>
          <c:val>
            <c:numLit>
              <c:formatCode>General</c:formatCode>
              <c:ptCount val="20"/>
              <c:pt idx="0">
                <c:v>859</c:v>
              </c:pt>
              <c:pt idx="1">
                <c:v>714</c:v>
              </c:pt>
              <c:pt idx="2">
                <c:v>66</c:v>
              </c:pt>
              <c:pt idx="3">
                <c:v>793</c:v>
              </c:pt>
              <c:pt idx="4">
                <c:v>1050</c:v>
              </c:pt>
              <c:pt idx="5">
                <c:v>505</c:v>
              </c:pt>
              <c:pt idx="6">
                <c:v>107</c:v>
              </c:pt>
              <c:pt idx="7">
                <c:v>367</c:v>
              </c:pt>
              <c:pt idx="8">
                <c:v>1465</c:v>
              </c:pt>
              <c:pt idx="9">
                <c:v>45</c:v>
              </c:pt>
              <c:pt idx="10">
                <c:v>2</c:v>
              </c:pt>
              <c:pt idx="11">
                <c:v>32</c:v>
              </c:pt>
              <c:pt idx="12">
                <c:v>116</c:v>
              </c:pt>
              <c:pt idx="13">
                <c:v>255</c:v>
              </c:pt>
              <c:pt idx="14">
                <c:v>896</c:v>
              </c:pt>
              <c:pt idx="15">
                <c:v>1662</c:v>
              </c:pt>
              <c:pt idx="16">
                <c:v>952</c:v>
              </c:pt>
              <c:pt idx="17">
                <c:v>111</c:v>
              </c:pt>
              <c:pt idx="18">
                <c:v>3</c:v>
              </c:pt>
              <c:pt idx="19">
                <c:v>0</c:v>
              </c:pt>
            </c:numLit>
          </c:val>
          <c:extLst>
            <c:ext xmlns:c16="http://schemas.microsoft.com/office/drawing/2014/chart" uri="{C3380CC4-5D6E-409C-BE32-E72D297353CC}">
              <c16:uniqueId val="{00000000-1469-408B-A35A-A97AEEDB38B2}"/>
            </c:ext>
          </c:extLst>
        </c:ser>
        <c:dLbls>
          <c:dLblPos val="outEnd"/>
          <c:showLegendKey val="0"/>
          <c:showVal val="1"/>
          <c:showCatName val="0"/>
          <c:showSerName val="0"/>
          <c:showPercent val="0"/>
          <c:showBubbleSize val="0"/>
        </c:dLbls>
        <c:gapWidth val="75"/>
        <c:axId val="1807262448"/>
        <c:axId val="1807270128"/>
      </c:barChart>
      <c:valAx>
        <c:axId val="1807270128"/>
        <c:scaling>
          <c:orientation val="minMax"/>
        </c:scaling>
        <c:delete val="0"/>
        <c:axPos val="b"/>
        <c:majorGridlines>
          <c:spPr>
            <a:ln w="9525" cap="flat" cmpd="sng" algn="ctr">
              <a:solidFill>
                <a:schemeClr val="dk1">
                  <a:lumMod val="15000"/>
                  <a:lumOff val="85000"/>
                </a:schemeClr>
              </a:solidFill>
              <a:round/>
            </a:ln>
            <a:effectLst/>
          </c:spPr>
        </c:majorGridlines>
        <c:title>
          <c:tx>
            <c:rich>
              <a:bodyPr rot="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r>
                  <a:rPr lang="en-ZA"/>
                  <a:t>Number</a:t>
                </a:r>
                <a:r>
                  <a:rPr lang="en-ZA" baseline="0"/>
                  <a:t> of Viewers</a:t>
                </a:r>
                <a:endParaRPr lang="en-ZA"/>
              </a:p>
            </c:rich>
          </c:tx>
          <c:overlay val="0"/>
          <c:spPr>
            <a:noFill/>
            <a:ln>
              <a:noFill/>
            </a:ln>
            <a:effectLst/>
          </c:spPr>
          <c:txPr>
            <a:bodyPr rot="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ZA"/>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crossAx val="1807262448"/>
        <c:crosses val="autoZero"/>
        <c:crossBetween val="between"/>
      </c:valAx>
      <c:catAx>
        <c:axId val="1807262448"/>
        <c:scaling>
          <c:orientation val="minMax"/>
        </c:scaling>
        <c:delete val="0"/>
        <c:axPos val="l"/>
        <c:title>
          <c:tx>
            <c:rich>
              <a:bodyPr rot="-540000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r>
                  <a:rPr lang="en-ZA"/>
                  <a:t>Channels</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cap="none" spc="0" normalizeH="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crossAx val="1807270128"/>
        <c:crosses val="autoZero"/>
        <c:auto val="1"/>
        <c:lblAlgn val="ctr"/>
        <c:lblOffset val="100"/>
        <c:noMultiLvlLbl val="0"/>
      </c:catAx>
      <c:spPr>
        <a:noFill/>
        <a:ln>
          <a:noFill/>
        </a:ln>
        <a:effectLst/>
      </c:spPr>
    </c:plotArea>
    <c:legend>
      <c:legendPos val="b"/>
      <c:overlay val="0"/>
      <c:spPr>
        <a:solidFill>
          <a:schemeClr val="lt1">
            <a:alpha val="50000"/>
          </a:schemeClr>
        </a:solidFill>
        <a:ln>
          <a:noFill/>
        </a:ln>
        <a:effectLst/>
      </c:spPr>
      <c:txPr>
        <a:bodyPr rot="0" spcFirstLastPara="1" vertOverflow="ellipsis" vert="horz" wrap="square" anchor="ctr" anchorCtr="1"/>
        <a:lstStyle/>
        <a:p>
          <a:pPr>
            <a:defRPr sz="12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r>
              <a:rPr lang="en-ZA" sz="1200"/>
              <a:t>Viewership</a:t>
            </a:r>
            <a:r>
              <a:rPr lang="en-ZA" sz="1200" baseline="0"/>
              <a:t> By Channels in Percentages% </a:t>
            </a:r>
            <a:endParaRPr lang="en-ZA" sz="1200"/>
          </a:p>
        </c:rich>
      </c:tx>
      <c:overlay val="0"/>
      <c:spPr>
        <a:noFill/>
        <a:ln>
          <a:noFill/>
        </a:ln>
        <a:effectLst/>
      </c:spPr>
      <c:txPr>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endParaRPr lang="en-ZA"/>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a:gsLst>
              <a:gs pos="100000">
                <a:schemeClr val="accent2">
                  <a:lumMod val="60000"/>
                  <a:lumOff val="40000"/>
                </a:schemeClr>
              </a:gs>
              <a:gs pos="0">
                <a:schemeClr val="accent2"/>
              </a:gs>
            </a:gsLst>
            <a:lin ang="5400000" scaled="0"/>
          </a:gradFill>
          <a:ln w="22225" cap="rnd">
            <a:solidFill>
              <a:schemeClr val="accent2"/>
            </a:solidFill>
            <a:round/>
          </a:ln>
          <a:effectLst/>
        </c:spPr>
        <c:marker>
          <c:symbol val="none"/>
        </c:marker>
        <c:dLbl>
          <c:idx val="0"/>
          <c:showLegendKey val="0"/>
          <c:showVal val="1"/>
          <c:showCatName val="1"/>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a:gsLst>
              <a:gs pos="100000">
                <a:schemeClr val="accent2">
                  <a:lumMod val="60000"/>
                  <a:lumOff val="40000"/>
                </a:schemeClr>
              </a:gs>
              <a:gs pos="0">
                <a:schemeClr val="accent2"/>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a:gsLst>
              <a:gs pos="100000">
                <a:schemeClr val="accent2">
                  <a:lumMod val="60000"/>
                  <a:lumOff val="40000"/>
                </a:schemeClr>
              </a:gs>
              <a:gs pos="0">
                <a:schemeClr val="accent2"/>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a:gsLst>
              <a:gs pos="100000">
                <a:schemeClr val="accent2">
                  <a:lumMod val="60000"/>
                  <a:lumOff val="40000"/>
                </a:schemeClr>
              </a:gs>
              <a:gs pos="0">
                <a:schemeClr val="accent2"/>
              </a:gs>
            </a:gsLst>
            <a:lin ang="5400000" scaled="0"/>
          </a:gradFill>
          <a:ln w="2222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8"/>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9"/>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0"/>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1"/>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2"/>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3"/>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4"/>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5"/>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6"/>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7"/>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8"/>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19"/>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20"/>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21"/>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22"/>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23"/>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24"/>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25"/>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26"/>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
        <c:idx val="27"/>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pivotFmt>
    </c:pivotFmts>
    <c:view3D>
      <c:rotX val="60"/>
      <c:rotY val="0"/>
      <c:depthPercent val="100"/>
      <c:rAngAx val="0"/>
      <c:perspective val="5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v>Total</c:v>
          </c:tx>
          <c:dPt>
            <c:idx val="0"/>
            <c:bubble3D val="0"/>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1-DB50-4B4D-90E6-2EB70E7D12CE}"/>
              </c:ext>
            </c:extLst>
          </c:dPt>
          <c:dPt>
            <c:idx val="1"/>
            <c:bubble3D val="0"/>
            <c:spPr>
              <a:gradFill>
                <a:gsLst>
                  <a:gs pos="100000">
                    <a:schemeClr val="accent4">
                      <a:lumMod val="60000"/>
                      <a:lumOff val="40000"/>
                    </a:schemeClr>
                  </a:gs>
                  <a:gs pos="0">
                    <a:schemeClr val="accent4"/>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3-DB50-4B4D-90E6-2EB70E7D12CE}"/>
              </c:ext>
            </c:extLst>
          </c:dPt>
          <c:dPt>
            <c:idx val="2"/>
            <c:bubble3D val="0"/>
            <c:spPr>
              <a:gradFill>
                <a:gsLst>
                  <a:gs pos="100000">
                    <a:schemeClr val="accent6">
                      <a:lumMod val="60000"/>
                      <a:lumOff val="40000"/>
                    </a:schemeClr>
                  </a:gs>
                  <a:gs pos="0">
                    <a:schemeClr val="accent6"/>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5-DB50-4B4D-90E6-2EB70E7D12CE}"/>
              </c:ext>
            </c:extLst>
          </c:dPt>
          <c:dPt>
            <c:idx val="3"/>
            <c:bubble3D val="0"/>
            <c:spPr>
              <a:gradFill>
                <a:gsLst>
                  <a:gs pos="100000">
                    <a:schemeClr val="accent2">
                      <a:lumMod val="60000"/>
                      <a:lumMod val="60000"/>
                      <a:lumOff val="40000"/>
                    </a:schemeClr>
                  </a:gs>
                  <a:gs pos="0">
                    <a:schemeClr val="accent2">
                      <a:lumMod val="6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7-DB50-4B4D-90E6-2EB70E7D12CE}"/>
              </c:ext>
            </c:extLst>
          </c:dPt>
          <c:dPt>
            <c:idx val="4"/>
            <c:bubble3D val="0"/>
            <c:spPr>
              <a:gradFill>
                <a:gsLst>
                  <a:gs pos="100000">
                    <a:schemeClr val="accent4">
                      <a:lumMod val="60000"/>
                      <a:lumMod val="60000"/>
                      <a:lumOff val="40000"/>
                    </a:schemeClr>
                  </a:gs>
                  <a:gs pos="0">
                    <a:schemeClr val="accent4">
                      <a:lumMod val="6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9-DB50-4B4D-90E6-2EB70E7D12CE}"/>
              </c:ext>
            </c:extLst>
          </c:dPt>
          <c:dPt>
            <c:idx val="5"/>
            <c:bubble3D val="0"/>
            <c:spPr>
              <a:gradFill>
                <a:gsLst>
                  <a:gs pos="100000">
                    <a:schemeClr val="accent6">
                      <a:lumMod val="60000"/>
                      <a:lumMod val="60000"/>
                      <a:lumOff val="40000"/>
                    </a:schemeClr>
                  </a:gs>
                  <a:gs pos="0">
                    <a:schemeClr val="accent6">
                      <a:lumMod val="6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B-DB50-4B4D-90E6-2EB70E7D12CE}"/>
              </c:ext>
            </c:extLst>
          </c:dPt>
          <c:dPt>
            <c:idx val="6"/>
            <c:bubble3D val="0"/>
            <c:spPr>
              <a:gradFill>
                <a:gsLst>
                  <a:gs pos="100000">
                    <a:schemeClr val="accent2">
                      <a:lumMod val="80000"/>
                      <a:lumOff val="20000"/>
                      <a:lumMod val="60000"/>
                      <a:lumOff val="40000"/>
                    </a:schemeClr>
                  </a:gs>
                  <a:gs pos="0">
                    <a:schemeClr val="accent2">
                      <a:lumMod val="80000"/>
                      <a:lumOff val="2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D-DB50-4B4D-90E6-2EB70E7D12CE}"/>
              </c:ext>
            </c:extLst>
          </c:dPt>
          <c:dPt>
            <c:idx val="7"/>
            <c:bubble3D val="0"/>
            <c:spPr>
              <a:gradFill>
                <a:gsLst>
                  <a:gs pos="100000">
                    <a:schemeClr val="accent4">
                      <a:lumMod val="80000"/>
                      <a:lumOff val="20000"/>
                      <a:lumMod val="60000"/>
                      <a:lumOff val="40000"/>
                    </a:schemeClr>
                  </a:gs>
                  <a:gs pos="0">
                    <a:schemeClr val="accent4">
                      <a:lumMod val="80000"/>
                      <a:lumOff val="2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F-DB50-4B4D-90E6-2EB70E7D12CE}"/>
              </c:ext>
            </c:extLst>
          </c:dPt>
          <c:dPt>
            <c:idx val="8"/>
            <c:bubble3D val="0"/>
            <c:spPr>
              <a:gradFill>
                <a:gsLst>
                  <a:gs pos="100000">
                    <a:schemeClr val="accent6">
                      <a:lumMod val="80000"/>
                      <a:lumOff val="20000"/>
                      <a:lumMod val="60000"/>
                      <a:lumOff val="40000"/>
                    </a:schemeClr>
                  </a:gs>
                  <a:gs pos="0">
                    <a:schemeClr val="accent6">
                      <a:lumMod val="80000"/>
                      <a:lumOff val="2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11-DB50-4B4D-90E6-2EB70E7D12CE}"/>
              </c:ext>
            </c:extLst>
          </c:dPt>
          <c:dPt>
            <c:idx val="9"/>
            <c:bubble3D val="0"/>
            <c:spPr>
              <a:gradFill>
                <a:gsLst>
                  <a:gs pos="100000">
                    <a:schemeClr val="accent2">
                      <a:lumMod val="80000"/>
                      <a:lumMod val="60000"/>
                      <a:lumOff val="40000"/>
                    </a:schemeClr>
                  </a:gs>
                  <a:gs pos="0">
                    <a:schemeClr val="accent2">
                      <a:lumMod val="8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13-DB50-4B4D-90E6-2EB70E7D12CE}"/>
              </c:ext>
            </c:extLst>
          </c:dPt>
          <c:dPt>
            <c:idx val="10"/>
            <c:bubble3D val="0"/>
            <c:spPr>
              <a:gradFill>
                <a:gsLst>
                  <a:gs pos="100000">
                    <a:schemeClr val="accent4">
                      <a:lumMod val="80000"/>
                      <a:lumMod val="60000"/>
                      <a:lumOff val="40000"/>
                    </a:schemeClr>
                  </a:gs>
                  <a:gs pos="0">
                    <a:schemeClr val="accent4">
                      <a:lumMod val="8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15-DB50-4B4D-90E6-2EB70E7D12CE}"/>
              </c:ext>
            </c:extLst>
          </c:dPt>
          <c:dPt>
            <c:idx val="11"/>
            <c:bubble3D val="0"/>
            <c:spPr>
              <a:gradFill>
                <a:gsLst>
                  <a:gs pos="100000">
                    <a:schemeClr val="accent6">
                      <a:lumMod val="80000"/>
                      <a:lumMod val="60000"/>
                      <a:lumOff val="40000"/>
                    </a:schemeClr>
                  </a:gs>
                  <a:gs pos="0">
                    <a:schemeClr val="accent6">
                      <a:lumMod val="8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17-DB50-4B4D-90E6-2EB70E7D12CE}"/>
              </c:ext>
            </c:extLst>
          </c:dPt>
          <c:dPt>
            <c:idx val="12"/>
            <c:bubble3D val="0"/>
            <c:spPr>
              <a:gradFill>
                <a:gsLst>
                  <a:gs pos="100000">
                    <a:schemeClr val="accent2">
                      <a:lumMod val="60000"/>
                      <a:lumOff val="40000"/>
                      <a:lumMod val="60000"/>
                      <a:lumOff val="40000"/>
                    </a:schemeClr>
                  </a:gs>
                  <a:gs pos="0">
                    <a:schemeClr val="accent2">
                      <a:lumMod val="60000"/>
                      <a:lumOff val="4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19-DB50-4B4D-90E6-2EB70E7D12CE}"/>
              </c:ext>
            </c:extLst>
          </c:dPt>
          <c:dPt>
            <c:idx val="13"/>
            <c:bubble3D val="0"/>
            <c:spPr>
              <a:gradFill>
                <a:gsLst>
                  <a:gs pos="100000">
                    <a:schemeClr val="accent4">
                      <a:lumMod val="60000"/>
                      <a:lumOff val="40000"/>
                      <a:lumMod val="60000"/>
                      <a:lumOff val="40000"/>
                    </a:schemeClr>
                  </a:gs>
                  <a:gs pos="0">
                    <a:schemeClr val="accent4">
                      <a:lumMod val="60000"/>
                      <a:lumOff val="4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1B-DB50-4B4D-90E6-2EB70E7D12CE}"/>
              </c:ext>
            </c:extLst>
          </c:dPt>
          <c:dPt>
            <c:idx val="14"/>
            <c:bubble3D val="0"/>
            <c:spPr>
              <a:gradFill>
                <a:gsLst>
                  <a:gs pos="100000">
                    <a:schemeClr val="accent6">
                      <a:lumMod val="60000"/>
                      <a:lumOff val="40000"/>
                      <a:lumMod val="60000"/>
                      <a:lumOff val="40000"/>
                    </a:schemeClr>
                  </a:gs>
                  <a:gs pos="0">
                    <a:schemeClr val="accent6">
                      <a:lumMod val="60000"/>
                      <a:lumOff val="4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1D-DB50-4B4D-90E6-2EB70E7D12CE}"/>
              </c:ext>
            </c:extLst>
          </c:dPt>
          <c:dPt>
            <c:idx val="15"/>
            <c:bubble3D val="0"/>
            <c:spPr>
              <a:gradFill>
                <a:gsLst>
                  <a:gs pos="100000">
                    <a:schemeClr val="accent2">
                      <a:lumMod val="50000"/>
                      <a:lumMod val="60000"/>
                      <a:lumOff val="40000"/>
                    </a:schemeClr>
                  </a:gs>
                  <a:gs pos="0">
                    <a:schemeClr val="accent2">
                      <a:lumMod val="5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1F-DB50-4B4D-90E6-2EB70E7D12CE}"/>
              </c:ext>
            </c:extLst>
          </c:dPt>
          <c:dPt>
            <c:idx val="16"/>
            <c:bubble3D val="0"/>
            <c:spPr>
              <a:gradFill>
                <a:gsLst>
                  <a:gs pos="100000">
                    <a:schemeClr val="accent4">
                      <a:lumMod val="50000"/>
                      <a:lumMod val="60000"/>
                      <a:lumOff val="40000"/>
                    </a:schemeClr>
                  </a:gs>
                  <a:gs pos="0">
                    <a:schemeClr val="accent4">
                      <a:lumMod val="5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21-DB50-4B4D-90E6-2EB70E7D12CE}"/>
              </c:ext>
            </c:extLst>
          </c:dPt>
          <c:dPt>
            <c:idx val="17"/>
            <c:bubble3D val="0"/>
            <c:spPr>
              <a:gradFill>
                <a:gsLst>
                  <a:gs pos="100000">
                    <a:schemeClr val="accent6">
                      <a:lumMod val="50000"/>
                      <a:lumMod val="60000"/>
                      <a:lumOff val="40000"/>
                    </a:schemeClr>
                  </a:gs>
                  <a:gs pos="0">
                    <a:schemeClr val="accent6">
                      <a:lumMod val="5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23-DB50-4B4D-90E6-2EB70E7D12CE}"/>
              </c:ext>
            </c:extLst>
          </c:dPt>
          <c:dPt>
            <c:idx val="18"/>
            <c:bubble3D val="0"/>
            <c:spPr>
              <a:gradFill>
                <a:gsLst>
                  <a:gs pos="100000">
                    <a:schemeClr val="accent2">
                      <a:lumMod val="70000"/>
                      <a:lumOff val="30000"/>
                      <a:lumMod val="60000"/>
                      <a:lumOff val="40000"/>
                    </a:schemeClr>
                  </a:gs>
                  <a:gs pos="0">
                    <a:schemeClr val="accent2">
                      <a:lumMod val="70000"/>
                      <a:lumOff val="3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25-DB50-4B4D-90E6-2EB70E7D12CE}"/>
              </c:ext>
            </c:extLst>
          </c:dPt>
          <c:dPt>
            <c:idx val="19"/>
            <c:bubble3D val="0"/>
            <c:spPr>
              <a:gradFill>
                <a:gsLst>
                  <a:gs pos="100000">
                    <a:schemeClr val="accent4">
                      <a:lumMod val="70000"/>
                      <a:lumOff val="30000"/>
                      <a:lumMod val="60000"/>
                      <a:lumOff val="40000"/>
                    </a:schemeClr>
                  </a:gs>
                  <a:gs pos="0">
                    <a:schemeClr val="accent4">
                      <a:lumMod val="70000"/>
                      <a:lumOff val="30000"/>
                    </a:schemeClr>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27-DB50-4B4D-90E6-2EB70E7D12CE}"/>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Lit>
              <c:ptCount val="20"/>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SawSee</c:v>
              </c:pt>
              <c:pt idx="14">
                <c:v>SuperSport Blitz</c:v>
              </c:pt>
              <c:pt idx="15">
                <c:v>Supersport Live Events</c:v>
              </c:pt>
              <c:pt idx="16">
                <c:v>Trace TV</c:v>
              </c:pt>
              <c:pt idx="17">
                <c:v>Vuzu</c:v>
              </c:pt>
              <c:pt idx="18">
                <c:v>Wimbledon</c:v>
              </c:pt>
              <c:pt idx="19">
                <c:v>(blank)</c:v>
              </c:pt>
            </c:strLit>
          </c:cat>
          <c:val>
            <c:numLit>
              <c:formatCode>General</c:formatCode>
              <c:ptCount val="20"/>
              <c:pt idx="0">
                <c:v>859</c:v>
              </c:pt>
              <c:pt idx="1">
                <c:v>714</c:v>
              </c:pt>
              <c:pt idx="2">
                <c:v>66</c:v>
              </c:pt>
              <c:pt idx="3">
                <c:v>793</c:v>
              </c:pt>
              <c:pt idx="4">
                <c:v>1050</c:v>
              </c:pt>
              <c:pt idx="5">
                <c:v>505</c:v>
              </c:pt>
              <c:pt idx="6">
                <c:v>107</c:v>
              </c:pt>
              <c:pt idx="7">
                <c:v>367</c:v>
              </c:pt>
              <c:pt idx="8">
                <c:v>1465</c:v>
              </c:pt>
              <c:pt idx="9">
                <c:v>45</c:v>
              </c:pt>
              <c:pt idx="10">
                <c:v>2</c:v>
              </c:pt>
              <c:pt idx="11">
                <c:v>32</c:v>
              </c:pt>
              <c:pt idx="12">
                <c:v>116</c:v>
              </c:pt>
              <c:pt idx="13">
                <c:v>255</c:v>
              </c:pt>
              <c:pt idx="14">
                <c:v>896</c:v>
              </c:pt>
              <c:pt idx="15">
                <c:v>1662</c:v>
              </c:pt>
              <c:pt idx="16">
                <c:v>952</c:v>
              </c:pt>
              <c:pt idx="17">
                <c:v>111</c:v>
              </c:pt>
              <c:pt idx="18">
                <c:v>3</c:v>
              </c:pt>
              <c:pt idx="19">
                <c:v>0</c:v>
              </c:pt>
            </c:numLit>
          </c:val>
          <c:extLst>
            <c:ext xmlns:c16="http://schemas.microsoft.com/office/drawing/2014/chart" uri="{C3380CC4-5D6E-409C-BE32-E72D297353CC}">
              <c16:uniqueId val="{00000028-DB50-4B4D-90E6-2EB70E7D12CE}"/>
            </c:ext>
          </c:extLst>
        </c:ser>
        <c:dLbls>
          <c:showLegendKey val="0"/>
          <c:showVal val="0"/>
          <c:showCatName val="0"/>
          <c:showSerName val="0"/>
          <c:showPercent val="1"/>
          <c:showBubbleSize val="0"/>
          <c:showLeaderLines val="1"/>
        </c:dLbls>
      </c:pie3DChart>
      <c:spPr>
        <a:noFill/>
        <a:ln>
          <a:noFill/>
        </a:ln>
        <a:effectLst/>
      </c:spPr>
    </c:plotArea>
    <c:legend>
      <c:legendPos val="t"/>
      <c:overlay val="0"/>
      <c:spPr>
        <a:solidFill>
          <a:schemeClr val="lt1">
            <a:alpha val="50000"/>
          </a:schemeClr>
        </a:solidFill>
        <a:ln>
          <a:noFill/>
        </a:ln>
        <a:effectLst/>
      </c:spPr>
      <c:txPr>
        <a:bodyPr rot="0" spcFirstLastPara="1" vertOverflow="ellipsis" vert="horz" wrap="square" anchor="ctr" anchorCtr="1"/>
        <a:lstStyle/>
        <a:p>
          <a:pPr>
            <a:defRPr sz="12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r>
              <a:rPr lang="en-ZA" sz="1200"/>
              <a:t>Daily Viewership</a:t>
            </a:r>
            <a:r>
              <a:rPr lang="en-ZA" sz="1200" baseline="0"/>
              <a:t> Trend (Jan-Mar 2016)</a:t>
            </a:r>
            <a:endParaRPr lang="en-ZA" sz="1200"/>
          </a:p>
        </c:rich>
      </c:tx>
      <c:overlay val="0"/>
      <c:spPr>
        <a:noFill/>
        <a:ln>
          <a:noFill/>
        </a:ln>
        <a:effectLst/>
      </c:spPr>
      <c:txPr>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endParaRPr lang="en-ZA"/>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dLbl>
          <c:idx val="0"/>
          <c:showLegendKey val="0"/>
          <c:showVal val="1"/>
          <c:showCatName val="1"/>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pivotFmt>
      <c:pivotFmt>
        <c:idx val="7"/>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v>Total</c:v>
          </c:tx>
          <c:spPr>
            <a:ln w="22225" cap="rnd">
              <a:solidFill>
                <a:schemeClr val="accent1"/>
              </a:solidFill>
              <a:round/>
            </a:ln>
            <a:effectLst/>
          </c:spPr>
          <c:marker>
            <c:symbol val="none"/>
          </c:marker>
          <c:cat>
            <c:strLit>
              <c:ptCount val="93"/>
              <c:pt idx="0">
                <c:v>&lt;2016/01/01</c:v>
              </c:pt>
              <c:pt idx="1">
                <c:v>01-Jan</c:v>
              </c:pt>
              <c:pt idx="2">
                <c:v>02-Jan</c:v>
              </c:pt>
              <c:pt idx="3">
                <c:v>03-Jan</c:v>
              </c:pt>
              <c:pt idx="4">
                <c:v>04-Jan</c:v>
              </c:pt>
              <c:pt idx="5">
                <c:v>05-Jan</c:v>
              </c:pt>
              <c:pt idx="6">
                <c:v>06-Jan</c:v>
              </c:pt>
              <c:pt idx="7">
                <c:v>07-Jan</c:v>
              </c:pt>
              <c:pt idx="8">
                <c:v>08-Jan</c:v>
              </c:pt>
              <c:pt idx="9">
                <c:v>09-Jan</c:v>
              </c:pt>
              <c:pt idx="10">
                <c:v>10-Jan</c:v>
              </c:pt>
              <c:pt idx="11">
                <c:v>11-Jan</c:v>
              </c:pt>
              <c:pt idx="12">
                <c:v>12-Jan</c:v>
              </c:pt>
              <c:pt idx="13">
                <c:v>13-Jan</c:v>
              </c:pt>
              <c:pt idx="14">
                <c:v>14-Jan</c:v>
              </c:pt>
              <c:pt idx="15">
                <c:v>15-Jan</c:v>
              </c:pt>
              <c:pt idx="16">
                <c:v>16-Jan</c:v>
              </c:pt>
              <c:pt idx="17">
                <c:v>17-Jan</c:v>
              </c:pt>
              <c:pt idx="18">
                <c:v>18-Jan</c:v>
              </c:pt>
              <c:pt idx="19">
                <c:v>19-Jan</c:v>
              </c:pt>
              <c:pt idx="20">
                <c:v>20-Jan</c:v>
              </c:pt>
              <c:pt idx="21">
                <c:v>21-Jan</c:v>
              </c:pt>
              <c:pt idx="22">
                <c:v>22-Jan</c:v>
              </c:pt>
              <c:pt idx="23">
                <c:v>23-Jan</c:v>
              </c:pt>
              <c:pt idx="24">
                <c:v>24-Jan</c:v>
              </c:pt>
              <c:pt idx="25">
                <c:v>25-Jan</c:v>
              </c:pt>
              <c:pt idx="26">
                <c:v>26-Jan</c:v>
              </c:pt>
              <c:pt idx="27">
                <c:v>27-Jan</c:v>
              </c:pt>
              <c:pt idx="28">
                <c:v>28-Jan</c:v>
              </c:pt>
              <c:pt idx="29">
                <c:v>29-Jan</c:v>
              </c:pt>
              <c:pt idx="30">
                <c:v>30-Jan</c:v>
              </c:pt>
              <c:pt idx="31">
                <c:v>31-Jan</c:v>
              </c:pt>
              <c:pt idx="32">
                <c:v>01-Feb</c:v>
              </c:pt>
              <c:pt idx="33">
                <c:v>02-Feb</c:v>
              </c:pt>
              <c:pt idx="34">
                <c:v>03-Feb</c:v>
              </c:pt>
              <c:pt idx="35">
                <c:v>04-Feb</c:v>
              </c:pt>
              <c:pt idx="36">
                <c:v>05-Feb</c:v>
              </c:pt>
              <c:pt idx="37">
                <c:v>06-Feb</c:v>
              </c:pt>
              <c:pt idx="38">
                <c:v>07-Feb</c:v>
              </c:pt>
              <c:pt idx="39">
                <c:v>08-Feb</c:v>
              </c:pt>
              <c:pt idx="40">
                <c:v>09-Feb</c:v>
              </c:pt>
              <c:pt idx="41">
                <c:v>10-Feb</c:v>
              </c:pt>
              <c:pt idx="42">
                <c:v>11-Feb</c:v>
              </c:pt>
              <c:pt idx="43">
                <c:v>12-Feb</c:v>
              </c:pt>
              <c:pt idx="44">
                <c:v>13-Feb</c:v>
              </c:pt>
              <c:pt idx="45">
                <c:v>14-Feb</c:v>
              </c:pt>
              <c:pt idx="46">
                <c:v>15-Feb</c:v>
              </c:pt>
              <c:pt idx="47">
                <c:v>16-Feb</c:v>
              </c:pt>
              <c:pt idx="48">
                <c:v>17-Feb</c:v>
              </c:pt>
              <c:pt idx="49">
                <c:v>18-Feb</c:v>
              </c:pt>
              <c:pt idx="50">
                <c:v>19-Feb</c:v>
              </c:pt>
              <c:pt idx="51">
                <c:v>20-Feb</c:v>
              </c:pt>
              <c:pt idx="52">
                <c:v>21-Feb</c:v>
              </c:pt>
              <c:pt idx="53">
                <c:v>22-Feb</c:v>
              </c:pt>
              <c:pt idx="54">
                <c:v>23-Feb</c:v>
              </c:pt>
              <c:pt idx="55">
                <c:v>24-Feb</c:v>
              </c:pt>
              <c:pt idx="56">
                <c:v>25-Feb</c:v>
              </c:pt>
              <c:pt idx="57">
                <c:v>26-Feb</c:v>
              </c:pt>
              <c:pt idx="58">
                <c:v>27-Feb</c:v>
              </c:pt>
              <c:pt idx="59">
                <c:v>28-Feb</c:v>
              </c:pt>
              <c:pt idx="60">
                <c:v>29-Feb</c:v>
              </c:pt>
              <c:pt idx="61">
                <c:v>01-Mar</c:v>
              </c:pt>
              <c:pt idx="62">
                <c:v>02-Mar</c:v>
              </c:pt>
              <c:pt idx="63">
                <c:v>03-Mar</c:v>
              </c:pt>
              <c:pt idx="64">
                <c:v>04-Mar</c:v>
              </c:pt>
              <c:pt idx="65">
                <c:v>05-Mar</c:v>
              </c:pt>
              <c:pt idx="66">
                <c:v>06-Mar</c:v>
              </c:pt>
              <c:pt idx="67">
                <c:v>07-Mar</c:v>
              </c:pt>
              <c:pt idx="68">
                <c:v>08-Mar</c:v>
              </c:pt>
              <c:pt idx="69">
                <c:v>09-Mar</c:v>
              </c:pt>
              <c:pt idx="70">
                <c:v>10-Mar</c:v>
              </c:pt>
              <c:pt idx="71">
                <c:v>11-Mar</c:v>
              </c:pt>
              <c:pt idx="72">
                <c:v>12-Mar</c:v>
              </c:pt>
              <c:pt idx="73">
                <c:v>13-Mar</c:v>
              </c:pt>
              <c:pt idx="74">
                <c:v>14-Mar</c:v>
              </c:pt>
              <c:pt idx="75">
                <c:v>15-Mar</c:v>
              </c:pt>
              <c:pt idx="76">
                <c:v>16-Mar</c:v>
              </c:pt>
              <c:pt idx="77">
                <c:v>17-Mar</c:v>
              </c:pt>
              <c:pt idx="78">
                <c:v>18-Mar</c:v>
              </c:pt>
              <c:pt idx="79">
                <c:v>19-Mar</c:v>
              </c:pt>
              <c:pt idx="80">
                <c:v>20-Mar</c:v>
              </c:pt>
              <c:pt idx="81">
                <c:v>21-Mar</c:v>
              </c:pt>
              <c:pt idx="82">
                <c:v>22-Mar</c:v>
              </c:pt>
              <c:pt idx="83">
                <c:v>23-Mar</c:v>
              </c:pt>
              <c:pt idx="84">
                <c:v>24-Mar</c:v>
              </c:pt>
              <c:pt idx="85">
                <c:v>25-Mar</c:v>
              </c:pt>
              <c:pt idx="86">
                <c:v>26-Mar</c:v>
              </c:pt>
              <c:pt idx="87">
                <c:v>27-Mar</c:v>
              </c:pt>
              <c:pt idx="88">
                <c:v>28-Mar</c:v>
              </c:pt>
              <c:pt idx="89">
                <c:v>29-Mar</c:v>
              </c:pt>
              <c:pt idx="90">
                <c:v>30-Mar</c:v>
              </c:pt>
              <c:pt idx="91">
                <c:v>31-Mar</c:v>
              </c:pt>
              <c:pt idx="92">
                <c:v>01-Apr</c:v>
              </c:pt>
            </c:strLit>
          </c:cat>
          <c:val>
            <c:numLit>
              <c:formatCode>General</c:formatCode>
              <c:ptCount val="93"/>
              <c:pt idx="0">
                <c:v>0</c:v>
              </c:pt>
              <c:pt idx="1">
                <c:v>67</c:v>
              </c:pt>
              <c:pt idx="2">
                <c:v>74</c:v>
              </c:pt>
              <c:pt idx="3">
                <c:v>68</c:v>
              </c:pt>
              <c:pt idx="4">
                <c:v>62</c:v>
              </c:pt>
              <c:pt idx="5">
                <c:v>86</c:v>
              </c:pt>
              <c:pt idx="6">
                <c:v>82</c:v>
              </c:pt>
              <c:pt idx="7">
                <c:v>69</c:v>
              </c:pt>
              <c:pt idx="8">
                <c:v>87</c:v>
              </c:pt>
              <c:pt idx="9">
                <c:v>79</c:v>
              </c:pt>
              <c:pt idx="10">
                <c:v>59</c:v>
              </c:pt>
              <c:pt idx="11">
                <c:v>76</c:v>
              </c:pt>
              <c:pt idx="12">
                <c:v>67</c:v>
              </c:pt>
              <c:pt idx="13">
                <c:v>65</c:v>
              </c:pt>
              <c:pt idx="14">
                <c:v>80</c:v>
              </c:pt>
              <c:pt idx="15">
                <c:v>92</c:v>
              </c:pt>
              <c:pt idx="16">
                <c:v>88</c:v>
              </c:pt>
              <c:pt idx="17">
                <c:v>46</c:v>
              </c:pt>
              <c:pt idx="18">
                <c:v>57</c:v>
              </c:pt>
              <c:pt idx="19">
                <c:v>67</c:v>
              </c:pt>
              <c:pt idx="20">
                <c:v>72</c:v>
              </c:pt>
              <c:pt idx="21">
                <c:v>76</c:v>
              </c:pt>
              <c:pt idx="22">
                <c:v>87</c:v>
              </c:pt>
              <c:pt idx="23">
                <c:v>92</c:v>
              </c:pt>
              <c:pt idx="24">
                <c:v>59</c:v>
              </c:pt>
              <c:pt idx="25">
                <c:v>49</c:v>
              </c:pt>
              <c:pt idx="26">
                <c:v>66</c:v>
              </c:pt>
              <c:pt idx="27">
                <c:v>63</c:v>
              </c:pt>
              <c:pt idx="28">
                <c:v>64</c:v>
              </c:pt>
              <c:pt idx="29">
                <c:v>74</c:v>
              </c:pt>
              <c:pt idx="30">
                <c:v>72</c:v>
              </c:pt>
              <c:pt idx="31">
                <c:v>54</c:v>
              </c:pt>
              <c:pt idx="32">
                <c:v>63</c:v>
              </c:pt>
              <c:pt idx="33">
                <c:v>122</c:v>
              </c:pt>
              <c:pt idx="34">
                <c:v>82</c:v>
              </c:pt>
              <c:pt idx="35">
                <c:v>78</c:v>
              </c:pt>
              <c:pt idx="36">
                <c:v>96</c:v>
              </c:pt>
              <c:pt idx="37">
                <c:v>124</c:v>
              </c:pt>
              <c:pt idx="38">
                <c:v>73</c:v>
              </c:pt>
              <c:pt idx="39">
                <c:v>40</c:v>
              </c:pt>
              <c:pt idx="40">
                <c:v>84</c:v>
              </c:pt>
              <c:pt idx="41">
                <c:v>60</c:v>
              </c:pt>
              <c:pt idx="42">
                <c:v>64</c:v>
              </c:pt>
              <c:pt idx="43">
                <c:v>105</c:v>
              </c:pt>
              <c:pt idx="44">
                <c:v>89</c:v>
              </c:pt>
              <c:pt idx="45">
                <c:v>91</c:v>
              </c:pt>
              <c:pt idx="46">
                <c:v>80</c:v>
              </c:pt>
              <c:pt idx="47">
                <c:v>65</c:v>
              </c:pt>
              <c:pt idx="48">
                <c:v>72</c:v>
              </c:pt>
              <c:pt idx="49">
                <c:v>161</c:v>
              </c:pt>
              <c:pt idx="50">
                <c:v>272</c:v>
              </c:pt>
              <c:pt idx="51">
                <c:v>114</c:v>
              </c:pt>
              <c:pt idx="52">
                <c:v>182</c:v>
              </c:pt>
              <c:pt idx="53">
                <c:v>105</c:v>
              </c:pt>
              <c:pt idx="54">
                <c:v>91</c:v>
              </c:pt>
              <c:pt idx="55">
                <c:v>192</c:v>
              </c:pt>
              <c:pt idx="56">
                <c:v>120</c:v>
              </c:pt>
              <c:pt idx="57">
                <c:v>126</c:v>
              </c:pt>
              <c:pt idx="58">
                <c:v>123</c:v>
              </c:pt>
              <c:pt idx="59">
                <c:v>103</c:v>
              </c:pt>
              <c:pt idx="60">
                <c:v>3</c:v>
              </c:pt>
              <c:pt idx="61">
                <c:v>148</c:v>
              </c:pt>
              <c:pt idx="62">
                <c:v>140</c:v>
              </c:pt>
              <c:pt idx="63">
                <c:v>195</c:v>
              </c:pt>
              <c:pt idx="64">
                <c:v>165</c:v>
              </c:pt>
              <c:pt idx="65">
                <c:v>194</c:v>
              </c:pt>
              <c:pt idx="66">
                <c:v>220</c:v>
              </c:pt>
              <c:pt idx="67">
                <c:v>117</c:v>
              </c:pt>
              <c:pt idx="68">
                <c:v>122</c:v>
              </c:pt>
              <c:pt idx="69">
                <c:v>112</c:v>
              </c:pt>
              <c:pt idx="70">
                <c:v>88</c:v>
              </c:pt>
              <c:pt idx="71">
                <c:v>148</c:v>
              </c:pt>
              <c:pt idx="72">
                <c:v>200</c:v>
              </c:pt>
              <c:pt idx="73">
                <c:v>149</c:v>
              </c:pt>
              <c:pt idx="74">
                <c:v>92</c:v>
              </c:pt>
              <c:pt idx="75">
                <c:v>105</c:v>
              </c:pt>
              <c:pt idx="76">
                <c:v>66</c:v>
              </c:pt>
              <c:pt idx="77">
                <c:v>55</c:v>
              </c:pt>
              <c:pt idx="78">
                <c:v>124</c:v>
              </c:pt>
              <c:pt idx="79">
                <c:v>192</c:v>
              </c:pt>
              <c:pt idx="80">
                <c:v>177</c:v>
              </c:pt>
              <c:pt idx="81">
                <c:v>65</c:v>
              </c:pt>
              <c:pt idx="82">
                <c:v>79</c:v>
              </c:pt>
              <c:pt idx="83">
                <c:v>194</c:v>
              </c:pt>
              <c:pt idx="84">
                <c:v>264</c:v>
              </c:pt>
              <c:pt idx="85">
                <c:v>227</c:v>
              </c:pt>
              <c:pt idx="86">
                <c:v>192</c:v>
              </c:pt>
              <c:pt idx="87">
                <c:v>138</c:v>
              </c:pt>
              <c:pt idx="88">
                <c:v>148</c:v>
              </c:pt>
              <c:pt idx="89">
                <c:v>220</c:v>
              </c:pt>
              <c:pt idx="90">
                <c:v>353</c:v>
              </c:pt>
              <c:pt idx="91">
                <c:v>127</c:v>
              </c:pt>
              <c:pt idx="92">
                <c:v>5</c:v>
              </c:pt>
            </c:numLit>
          </c:val>
          <c:smooth val="0"/>
          <c:extLst>
            <c:ext xmlns:c16="http://schemas.microsoft.com/office/drawing/2014/chart" uri="{C3380CC4-5D6E-409C-BE32-E72D297353CC}">
              <c16:uniqueId val="{00000000-425D-43FE-9483-0BB387FE3657}"/>
            </c:ext>
          </c:extLst>
        </c:ser>
        <c:dLbls>
          <c:showLegendKey val="0"/>
          <c:showVal val="0"/>
          <c:showCatName val="0"/>
          <c:showSerName val="0"/>
          <c:showPercent val="0"/>
          <c:showBubbleSize val="0"/>
        </c:dLbls>
        <c:dropLines>
          <c:spPr>
            <a:ln w="9525" cap="flat" cmpd="sng" algn="ctr">
              <a:solidFill>
                <a:schemeClr val="dk1">
                  <a:lumMod val="35000"/>
                  <a:lumOff val="65000"/>
                </a:schemeClr>
              </a:solidFill>
              <a:round/>
            </a:ln>
            <a:effectLst/>
          </c:spPr>
        </c:dropLines>
        <c:smooth val="0"/>
        <c:axId val="1807262448"/>
        <c:axId val="1807270128"/>
      </c:lineChart>
      <c:valAx>
        <c:axId val="1807270128"/>
        <c:scaling>
          <c:orientation val="minMax"/>
        </c:scaling>
        <c:delete val="0"/>
        <c:axPos val="l"/>
        <c:majorGridlines>
          <c:spPr>
            <a:ln w="9525" cap="flat" cmpd="sng" algn="ctr">
              <a:solidFill>
                <a:schemeClr val="dk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r>
                  <a:rPr lang="en-ZA"/>
                  <a:t>Number</a:t>
                </a:r>
                <a:r>
                  <a:rPr lang="en-ZA" baseline="0"/>
                  <a:t> of Viewers</a:t>
                </a:r>
                <a:endParaRPr lang="en-ZA"/>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ZA"/>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crossAx val="1807262448"/>
        <c:crosses val="autoZero"/>
        <c:crossBetween val="between"/>
      </c:valAx>
      <c:catAx>
        <c:axId val="1807262448"/>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r>
                  <a:rPr lang="en-ZA"/>
                  <a:t>Date</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cap="none" spc="0" normalizeH="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crossAx val="1807270128"/>
        <c:crosses val="autoZero"/>
        <c:auto val="1"/>
        <c:lblAlgn val="ctr"/>
        <c:lblOffset val="100"/>
        <c:noMultiLvlLbl val="0"/>
      </c:catAx>
      <c:spPr>
        <a:noFill/>
        <a:ln>
          <a:noFill/>
        </a:ln>
        <a:effectLst/>
      </c:spPr>
    </c:plotArea>
    <c:legend>
      <c:legendPos val="b"/>
      <c:overlay val="0"/>
      <c:spPr>
        <a:solidFill>
          <a:schemeClr val="lt1">
            <a:alpha val="50000"/>
          </a:schemeClr>
        </a:solidFill>
        <a:ln>
          <a:noFill/>
        </a:ln>
        <a:effectLst/>
      </c:spPr>
      <c:txPr>
        <a:bodyPr rot="0" spcFirstLastPara="1" vertOverflow="ellipsis" vert="horz" wrap="square" anchor="ctr" anchorCtr="1"/>
        <a:lstStyle/>
        <a:p>
          <a:pPr>
            <a:defRPr sz="12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b="1">
                <a:latin typeface="Arial" panose="020B0604020202020204" pitchFamily="34" charset="0"/>
                <a:cs typeface="Arial" panose="020B0604020202020204" pitchFamily="34" charset="0"/>
              </a:rPr>
              <a:t>VIEWERS</a:t>
            </a:r>
            <a:r>
              <a:rPr lang="en-ZA" b="1" baseline="0">
                <a:latin typeface="Arial" panose="020B0604020202020204" pitchFamily="34" charset="0"/>
                <a:cs typeface="Arial" panose="020B0604020202020204" pitchFamily="34" charset="0"/>
              </a:rPr>
              <a:t> BY RACE</a:t>
            </a:r>
            <a:endParaRPr lang="en-ZA"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Total</c:v>
          </c:tx>
          <c:spPr>
            <a:solidFill>
              <a:schemeClr val="accent2"/>
            </a:solidFill>
            <a:ln>
              <a:noFill/>
            </a:ln>
            <a:effectLst/>
          </c:spPr>
          <c:invertIfNegative val="0"/>
          <c:cat>
            <c:strLit>
              <c:ptCount val="8"/>
              <c:pt idx="1">
                <c:v>black</c:v>
              </c:pt>
              <c:pt idx="2">
                <c:v>coloured</c:v>
              </c:pt>
              <c:pt idx="3">
                <c:v>indian_asian</c:v>
              </c:pt>
              <c:pt idx="4">
                <c:v>None</c:v>
              </c:pt>
              <c:pt idx="5">
                <c:v>other</c:v>
              </c:pt>
              <c:pt idx="6">
                <c:v>white</c:v>
              </c:pt>
              <c:pt idx="7">
                <c:v>(blank)</c:v>
              </c:pt>
            </c:strLit>
          </c:cat>
          <c:val>
            <c:numLit>
              <c:formatCode>General</c:formatCode>
              <c:ptCount val="8"/>
              <c:pt idx="0">
                <c:v>10</c:v>
              </c:pt>
              <c:pt idx="1">
                <c:v>4331</c:v>
              </c:pt>
              <c:pt idx="2">
                <c:v>1633</c:v>
              </c:pt>
              <c:pt idx="3">
                <c:v>1575</c:v>
              </c:pt>
              <c:pt idx="4">
                <c:v>1057</c:v>
              </c:pt>
              <c:pt idx="5">
                <c:v>102</c:v>
              </c:pt>
              <c:pt idx="6">
                <c:v>1292</c:v>
              </c:pt>
              <c:pt idx="7">
                <c:v>0</c:v>
              </c:pt>
            </c:numLit>
          </c:val>
          <c:extLst>
            <c:ext xmlns:c16="http://schemas.microsoft.com/office/drawing/2014/chart" uri="{C3380CC4-5D6E-409C-BE32-E72D297353CC}">
              <c16:uniqueId val="{00000000-CA27-41D0-99D9-5CB7BCFAE839}"/>
            </c:ext>
          </c:extLst>
        </c:ser>
        <c:dLbls>
          <c:showLegendKey val="0"/>
          <c:showVal val="0"/>
          <c:showCatName val="0"/>
          <c:showSerName val="0"/>
          <c:showPercent val="0"/>
          <c:showBubbleSize val="0"/>
        </c:dLbls>
        <c:gapWidth val="219"/>
        <c:overlap val="-27"/>
        <c:axId val="1684552656"/>
        <c:axId val="1684549776"/>
      </c:barChart>
      <c:catAx>
        <c:axId val="168455265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b="1"/>
                  <a:t>RACE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84549776"/>
        <c:crosses val="autoZero"/>
        <c:auto val="1"/>
        <c:lblAlgn val="ctr"/>
        <c:lblOffset val="100"/>
        <c:noMultiLvlLbl val="0"/>
      </c:catAx>
      <c:valAx>
        <c:axId val="16845497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b="1">
                    <a:latin typeface="Arial" panose="020B0604020202020204" pitchFamily="34" charset="0"/>
                    <a:cs typeface="Arial" panose="020B0604020202020204" pitchFamily="34" charset="0"/>
                  </a:rPr>
                  <a:t>NUMBER</a:t>
                </a:r>
                <a:r>
                  <a:rPr lang="en-ZA" b="1" baseline="0">
                    <a:latin typeface="Arial" panose="020B0604020202020204" pitchFamily="34" charset="0"/>
                    <a:cs typeface="Arial" panose="020B0604020202020204" pitchFamily="34" charset="0"/>
                  </a:rPr>
                  <a:t> OF VIEVERS</a:t>
                </a:r>
                <a:endParaRPr lang="en-ZA" b="1">
                  <a:latin typeface="Arial" panose="020B0604020202020204" pitchFamily="34" charset="0"/>
                  <a:cs typeface="Arial" panose="020B0604020202020204" pitchFamily="34" charset="0"/>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ZA"/>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845526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VIEWER</a:t>
            </a:r>
            <a:r>
              <a:rPr lang="en-US" sz="1000" b="1" baseline="0">
                <a:latin typeface="Arial" panose="020B0604020202020204" pitchFamily="34" charset="0"/>
                <a:cs typeface="Arial" panose="020B0604020202020204" pitchFamily="34" charset="0"/>
              </a:rPr>
              <a:t>S BY PROVINCES</a:t>
            </a:r>
            <a:r>
              <a:rPr lang="en-US" sz="1000" b="1">
                <a:latin typeface="Arial" panose="020B0604020202020204" pitchFamily="34" charset="0"/>
                <a:cs typeface="Arial" panose="020B0604020202020204" pitchFamily="34" charset="0"/>
              </a:rPr>
              <a:t> </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ivotFmts>
      <c:pivotFmt>
        <c:idx val="0"/>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Total</c:v>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11"/>
              <c:pt idx="0">
                <c:v>Eastern Cape</c:v>
              </c:pt>
              <c:pt idx="1">
                <c:v>Free State</c:v>
              </c:pt>
              <c:pt idx="2">
                <c:v>Gauteng</c:v>
              </c:pt>
              <c:pt idx="3">
                <c:v>Kwazulu Natal</c:v>
              </c:pt>
              <c:pt idx="4">
                <c:v>Limpopo</c:v>
              </c:pt>
              <c:pt idx="5">
                <c:v>Mpumalanga</c:v>
              </c:pt>
              <c:pt idx="6">
                <c:v>None</c:v>
              </c:pt>
              <c:pt idx="7">
                <c:v>North West</c:v>
              </c:pt>
              <c:pt idx="8">
                <c:v>Northern Cape</c:v>
              </c:pt>
              <c:pt idx="9">
                <c:v>Western Cape</c:v>
              </c:pt>
              <c:pt idx="10">
                <c:v>(blank)</c:v>
              </c:pt>
            </c:strLit>
          </c:cat>
          <c:val>
            <c:numLit>
              <c:formatCode>General</c:formatCode>
              <c:ptCount val="11"/>
              <c:pt idx="0">
                <c:v>690</c:v>
              </c:pt>
              <c:pt idx="1">
                <c:v>292</c:v>
              </c:pt>
              <c:pt idx="2">
                <c:v>3654</c:v>
              </c:pt>
              <c:pt idx="3">
                <c:v>1001</c:v>
              </c:pt>
              <c:pt idx="4">
                <c:v>763</c:v>
              </c:pt>
              <c:pt idx="5">
                <c:v>918</c:v>
              </c:pt>
              <c:pt idx="6">
                <c:v>263</c:v>
              </c:pt>
              <c:pt idx="7">
                <c:v>344</c:v>
              </c:pt>
              <c:pt idx="8">
                <c:v>230</c:v>
              </c:pt>
              <c:pt idx="9">
                <c:v>1845</c:v>
              </c:pt>
              <c:pt idx="10">
                <c:v>0</c:v>
              </c:pt>
            </c:numLit>
          </c:val>
          <c:extLst>
            <c:ext xmlns:c16="http://schemas.microsoft.com/office/drawing/2014/chart" uri="{C3380CC4-5D6E-409C-BE32-E72D297353CC}">
              <c16:uniqueId val="{00000000-6C48-45CD-A054-01F9DA639F33}"/>
            </c:ext>
          </c:extLst>
        </c:ser>
        <c:dLbls>
          <c:showLegendKey val="0"/>
          <c:showVal val="1"/>
          <c:showCatName val="0"/>
          <c:showSerName val="0"/>
          <c:showPercent val="0"/>
          <c:showBubbleSize val="0"/>
        </c:dLbls>
        <c:gapWidth val="75"/>
        <c:axId val="1684552656"/>
        <c:axId val="1684549776"/>
      </c:barChart>
      <c:catAx>
        <c:axId val="168455265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Provinces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84549776"/>
        <c:crosses val="autoZero"/>
        <c:auto val="1"/>
        <c:lblAlgn val="ctr"/>
        <c:lblOffset val="100"/>
        <c:noMultiLvlLbl val="0"/>
      </c:catAx>
      <c:valAx>
        <c:axId val="168454977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Number</a:t>
                </a:r>
                <a:r>
                  <a:rPr lang="en-ZA" baseline="0"/>
                  <a:t> of viewers</a:t>
                </a:r>
                <a:endParaRPr lang="en-ZA"/>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ZA"/>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845526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dirty="0"/>
              <a:t>VIEWERS BY PROVINCES </a:t>
            </a:r>
          </a:p>
        </c:rich>
      </c:tx>
      <c:layout>
        <c:manualLayout>
          <c:xMode val="edge"/>
          <c:yMode val="edge"/>
          <c:x val="0.14290647062340581"/>
          <c:y val="7.6566317348384899E-2"/>
        </c:manualLayout>
      </c:layout>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a:gsLst>
              <a:gs pos="100000">
                <a:schemeClr val="accent1">
                  <a:lumMod val="60000"/>
                  <a:lumOff val="40000"/>
                </a:schemeClr>
              </a:gs>
              <a:gs pos="0">
                <a:schemeClr val="accent1"/>
              </a:gs>
            </a:gsLst>
            <a:lin ang="5400000" scaled="0"/>
          </a:gradFill>
          <a:ln w="19050">
            <a:solidFill>
              <a:schemeClr val="lt1"/>
            </a:solidFill>
          </a:ln>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extLst>
        </c:dLbl>
      </c:pivotFmt>
      <c:pivotFmt>
        <c:idx val="4"/>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5"/>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6"/>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7"/>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8"/>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9"/>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10"/>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11"/>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12"/>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13"/>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14"/>
        <c:spPr>
          <a:gradFill>
            <a:gsLst>
              <a:gs pos="100000">
                <a:schemeClr val="accent1">
                  <a:lumMod val="60000"/>
                  <a:lumOff val="40000"/>
                </a:schemeClr>
              </a:gs>
              <a:gs pos="0">
                <a:schemeClr val="accent1"/>
              </a:gs>
            </a:gsLst>
            <a:lin ang="5400000" scaled="0"/>
          </a:gradFill>
          <a:ln w="19050">
            <a:solidFill>
              <a:schemeClr val="lt1"/>
            </a:solidFill>
          </a:ln>
          <a:effectLst/>
        </c:spPr>
      </c:pivotFmt>
    </c:pivotFmts>
    <c:plotArea>
      <c:layout>
        <c:manualLayout>
          <c:layoutTarget val="inner"/>
          <c:xMode val="edge"/>
          <c:yMode val="edge"/>
          <c:x val="0.10462798842544188"/>
          <c:y val="0.21404033915094567"/>
          <c:w val="0.61107975746194887"/>
          <c:h val="0.75780974004639057"/>
        </c:manualLayout>
      </c:layout>
      <c:pieChart>
        <c:varyColors val="1"/>
        <c:ser>
          <c:idx val="0"/>
          <c:order val="0"/>
          <c:tx>
            <c:v>Total</c:v>
          </c:tx>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D34E-45D9-A349-A3963A72D6AD}"/>
              </c:ext>
            </c:extLst>
          </c:dPt>
          <c:dPt>
            <c:idx val="1"/>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3-D34E-45D9-A349-A3963A72D6AD}"/>
              </c:ext>
            </c:extLst>
          </c:dPt>
          <c:dPt>
            <c:idx val="2"/>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5-D34E-45D9-A349-A3963A72D6AD}"/>
              </c:ext>
            </c:extLst>
          </c:dPt>
          <c:dPt>
            <c:idx val="3"/>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7-D34E-45D9-A349-A3963A72D6AD}"/>
              </c:ext>
            </c:extLst>
          </c:dPt>
          <c:dPt>
            <c:idx val="4"/>
            <c:bubble3D val="0"/>
            <c:spPr>
              <a:gradFill>
                <a:gsLst>
                  <a:gs pos="100000">
                    <a:schemeClr val="accent3">
                      <a:lumMod val="60000"/>
                      <a:lumMod val="60000"/>
                      <a:lumOff val="40000"/>
                    </a:schemeClr>
                  </a:gs>
                  <a:gs pos="0">
                    <a:schemeClr val="accent3">
                      <a:lumMod val="60000"/>
                    </a:schemeClr>
                  </a:gs>
                </a:gsLst>
                <a:lin ang="5400000" scaled="0"/>
              </a:gradFill>
              <a:ln w="19050">
                <a:solidFill>
                  <a:schemeClr val="lt1"/>
                </a:solidFill>
              </a:ln>
              <a:effectLst/>
            </c:spPr>
            <c:extLst>
              <c:ext xmlns:c16="http://schemas.microsoft.com/office/drawing/2014/chart" uri="{C3380CC4-5D6E-409C-BE32-E72D297353CC}">
                <c16:uniqueId val="{00000009-D34E-45D9-A349-A3963A72D6AD}"/>
              </c:ext>
            </c:extLst>
          </c:dPt>
          <c:dPt>
            <c:idx val="5"/>
            <c:bubble3D val="0"/>
            <c:spPr>
              <a:gradFill>
                <a:gsLst>
                  <a:gs pos="100000">
                    <a:schemeClr val="accent5">
                      <a:lumMod val="60000"/>
                      <a:lumMod val="60000"/>
                      <a:lumOff val="40000"/>
                    </a:schemeClr>
                  </a:gs>
                  <a:gs pos="0">
                    <a:schemeClr val="accent5">
                      <a:lumMod val="60000"/>
                    </a:schemeClr>
                  </a:gs>
                </a:gsLst>
                <a:lin ang="5400000" scaled="0"/>
              </a:gradFill>
              <a:ln w="19050">
                <a:solidFill>
                  <a:schemeClr val="lt1"/>
                </a:solidFill>
              </a:ln>
              <a:effectLst/>
            </c:spPr>
            <c:extLst>
              <c:ext xmlns:c16="http://schemas.microsoft.com/office/drawing/2014/chart" uri="{C3380CC4-5D6E-409C-BE32-E72D297353CC}">
                <c16:uniqueId val="{0000000B-D34E-45D9-A349-A3963A72D6AD}"/>
              </c:ext>
            </c:extLst>
          </c:dPt>
          <c:dPt>
            <c:idx val="6"/>
            <c:bubble3D val="0"/>
            <c:spPr>
              <a:gradFill>
                <a:gsLst>
                  <a:gs pos="100000">
                    <a:schemeClr val="accent1">
                      <a:lumMod val="80000"/>
                      <a:lumOff val="20000"/>
                      <a:lumMod val="60000"/>
                      <a:lumOff val="40000"/>
                    </a:schemeClr>
                  </a:gs>
                  <a:gs pos="0">
                    <a:schemeClr val="accent1">
                      <a:lumMod val="80000"/>
                      <a:lumOff val="20000"/>
                    </a:schemeClr>
                  </a:gs>
                </a:gsLst>
                <a:lin ang="5400000" scaled="0"/>
              </a:gradFill>
              <a:ln w="19050">
                <a:solidFill>
                  <a:schemeClr val="lt1"/>
                </a:solidFill>
              </a:ln>
              <a:effectLst/>
            </c:spPr>
            <c:extLst>
              <c:ext xmlns:c16="http://schemas.microsoft.com/office/drawing/2014/chart" uri="{C3380CC4-5D6E-409C-BE32-E72D297353CC}">
                <c16:uniqueId val="{0000000D-D34E-45D9-A349-A3963A72D6AD}"/>
              </c:ext>
            </c:extLst>
          </c:dPt>
          <c:dPt>
            <c:idx val="7"/>
            <c:bubble3D val="0"/>
            <c:spPr>
              <a:gradFill>
                <a:gsLst>
                  <a:gs pos="100000">
                    <a:schemeClr val="accent3">
                      <a:lumMod val="80000"/>
                      <a:lumOff val="20000"/>
                      <a:lumMod val="60000"/>
                      <a:lumOff val="40000"/>
                    </a:schemeClr>
                  </a:gs>
                  <a:gs pos="0">
                    <a:schemeClr val="accent3">
                      <a:lumMod val="80000"/>
                      <a:lumOff val="20000"/>
                    </a:schemeClr>
                  </a:gs>
                </a:gsLst>
                <a:lin ang="5400000" scaled="0"/>
              </a:gradFill>
              <a:ln w="19050">
                <a:solidFill>
                  <a:schemeClr val="lt1"/>
                </a:solidFill>
              </a:ln>
              <a:effectLst/>
            </c:spPr>
            <c:extLst>
              <c:ext xmlns:c16="http://schemas.microsoft.com/office/drawing/2014/chart" uri="{C3380CC4-5D6E-409C-BE32-E72D297353CC}">
                <c16:uniqueId val="{0000000F-D34E-45D9-A349-A3963A72D6AD}"/>
              </c:ext>
            </c:extLst>
          </c:dPt>
          <c:dPt>
            <c:idx val="8"/>
            <c:bubble3D val="0"/>
            <c:spPr>
              <a:gradFill>
                <a:gsLst>
                  <a:gs pos="100000">
                    <a:schemeClr val="accent5">
                      <a:lumMod val="80000"/>
                      <a:lumOff val="20000"/>
                      <a:lumMod val="60000"/>
                      <a:lumOff val="40000"/>
                    </a:schemeClr>
                  </a:gs>
                  <a:gs pos="0">
                    <a:schemeClr val="accent5">
                      <a:lumMod val="80000"/>
                      <a:lumOff val="20000"/>
                    </a:schemeClr>
                  </a:gs>
                </a:gsLst>
                <a:lin ang="5400000" scaled="0"/>
              </a:gradFill>
              <a:ln w="19050">
                <a:solidFill>
                  <a:schemeClr val="lt1"/>
                </a:solidFill>
              </a:ln>
              <a:effectLst/>
            </c:spPr>
            <c:extLst>
              <c:ext xmlns:c16="http://schemas.microsoft.com/office/drawing/2014/chart" uri="{C3380CC4-5D6E-409C-BE32-E72D297353CC}">
                <c16:uniqueId val="{00000011-D34E-45D9-A349-A3963A72D6AD}"/>
              </c:ext>
            </c:extLst>
          </c:dPt>
          <c:dPt>
            <c:idx val="9"/>
            <c:bubble3D val="0"/>
            <c:spPr>
              <a:gradFill>
                <a:gsLst>
                  <a:gs pos="100000">
                    <a:schemeClr val="accent1">
                      <a:lumMod val="80000"/>
                      <a:lumMod val="60000"/>
                      <a:lumOff val="40000"/>
                    </a:schemeClr>
                  </a:gs>
                  <a:gs pos="0">
                    <a:schemeClr val="accent1">
                      <a:lumMod val="80000"/>
                    </a:schemeClr>
                  </a:gs>
                </a:gsLst>
                <a:lin ang="5400000" scaled="0"/>
              </a:gradFill>
              <a:ln w="19050">
                <a:solidFill>
                  <a:schemeClr val="lt1"/>
                </a:solidFill>
              </a:ln>
              <a:effectLst/>
            </c:spPr>
            <c:extLst>
              <c:ext xmlns:c16="http://schemas.microsoft.com/office/drawing/2014/chart" uri="{C3380CC4-5D6E-409C-BE32-E72D297353CC}">
                <c16:uniqueId val="{00000013-D34E-45D9-A349-A3963A72D6AD}"/>
              </c:ext>
            </c:extLst>
          </c:dPt>
          <c:dPt>
            <c:idx val="10"/>
            <c:bubble3D val="0"/>
            <c:spPr>
              <a:gradFill>
                <a:gsLst>
                  <a:gs pos="100000">
                    <a:schemeClr val="accent3">
                      <a:lumMod val="80000"/>
                      <a:lumMod val="60000"/>
                      <a:lumOff val="40000"/>
                    </a:schemeClr>
                  </a:gs>
                  <a:gs pos="0">
                    <a:schemeClr val="accent3">
                      <a:lumMod val="80000"/>
                    </a:schemeClr>
                  </a:gs>
                </a:gsLst>
                <a:lin ang="5400000" scaled="0"/>
              </a:gradFill>
              <a:ln w="19050">
                <a:solidFill>
                  <a:schemeClr val="lt1"/>
                </a:solidFill>
              </a:ln>
              <a:effectLst/>
            </c:spPr>
            <c:extLst>
              <c:ext xmlns:c16="http://schemas.microsoft.com/office/drawing/2014/chart" uri="{C3380CC4-5D6E-409C-BE32-E72D297353CC}">
                <c16:uniqueId val="{00000015-D34E-45D9-A349-A3963A72D6AD}"/>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Lit>
              <c:ptCount val="11"/>
              <c:pt idx="0">
                <c:v>Eastern Cape</c:v>
              </c:pt>
              <c:pt idx="1">
                <c:v>Free State</c:v>
              </c:pt>
              <c:pt idx="2">
                <c:v>Gauteng</c:v>
              </c:pt>
              <c:pt idx="3">
                <c:v>Kwazulu Natal</c:v>
              </c:pt>
              <c:pt idx="4">
                <c:v>Limpopo</c:v>
              </c:pt>
              <c:pt idx="5">
                <c:v>Mpumalanga</c:v>
              </c:pt>
              <c:pt idx="6">
                <c:v>None</c:v>
              </c:pt>
              <c:pt idx="7">
                <c:v>North West</c:v>
              </c:pt>
              <c:pt idx="8">
                <c:v>Northern Cape</c:v>
              </c:pt>
              <c:pt idx="9">
                <c:v>Western Cape</c:v>
              </c:pt>
              <c:pt idx="10">
                <c:v>(blank)</c:v>
              </c:pt>
            </c:strLit>
          </c:cat>
          <c:val>
            <c:numLit>
              <c:formatCode>General</c:formatCode>
              <c:ptCount val="11"/>
              <c:pt idx="0">
                <c:v>690</c:v>
              </c:pt>
              <c:pt idx="1">
                <c:v>292</c:v>
              </c:pt>
              <c:pt idx="2">
                <c:v>3654</c:v>
              </c:pt>
              <c:pt idx="3">
                <c:v>1001</c:v>
              </c:pt>
              <c:pt idx="4">
                <c:v>763</c:v>
              </c:pt>
              <c:pt idx="5">
                <c:v>918</c:v>
              </c:pt>
              <c:pt idx="6">
                <c:v>263</c:v>
              </c:pt>
              <c:pt idx="7">
                <c:v>344</c:v>
              </c:pt>
              <c:pt idx="8">
                <c:v>230</c:v>
              </c:pt>
              <c:pt idx="9">
                <c:v>1845</c:v>
              </c:pt>
              <c:pt idx="10">
                <c:v>0</c:v>
              </c:pt>
            </c:numLit>
          </c:val>
          <c:extLst>
            <c:ext xmlns:c16="http://schemas.microsoft.com/office/drawing/2014/chart" uri="{C3380CC4-5D6E-409C-BE32-E72D297353CC}">
              <c16:uniqueId val="{00000016-D34E-45D9-A349-A3963A72D6AD}"/>
            </c:ext>
          </c:extLst>
        </c:ser>
        <c:dLbls>
          <c:showLegendKey val="0"/>
          <c:showVal val="0"/>
          <c:showCatName val="1"/>
          <c:showSerName val="0"/>
          <c:showPercent val="1"/>
          <c:showBubbleSize val="0"/>
          <c:showLeaderLines val="1"/>
        </c:dLbls>
        <c:firstSliceAng val="0"/>
      </c:pieChart>
      <c:spPr>
        <a:noFill/>
        <a:ln>
          <a:noFill/>
        </a:ln>
        <a:effectLst/>
      </c:spPr>
    </c:plotArea>
    <c:legend>
      <c:legendPos val="r"/>
      <c:layout>
        <c:manualLayout>
          <c:xMode val="edge"/>
          <c:yMode val="edge"/>
          <c:x val="0.68835910360760644"/>
          <c:y val="0.1559664772142153"/>
          <c:w val="0.30831841818769357"/>
          <c:h val="0.69134163335754195"/>
        </c:manualLayout>
      </c:layout>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r>
              <a:rPr lang="en-US" sz="1200"/>
              <a:t>Viewership</a:t>
            </a:r>
            <a:r>
              <a:rPr lang="en-US" sz="1200" baseline="0"/>
              <a:t> by time intervals in percentages</a:t>
            </a:r>
            <a:endParaRPr lang="en-US" sz="1200"/>
          </a:p>
        </c:rich>
      </c:tx>
      <c:overlay val="0"/>
      <c:spPr>
        <a:noFill/>
        <a:ln>
          <a:noFill/>
        </a:ln>
        <a:effectLst/>
      </c:spPr>
      <c:txPr>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dLbl>
          <c:idx val="0"/>
          <c:showLegendKey val="0"/>
          <c:showVal val="1"/>
          <c:showCatName val="1"/>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pivotFmt>
      <c:pivotFmt>
        <c:idx val="7"/>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8"/>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9"/>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10"/>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11"/>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12"/>
        <c:spPr>
          <a:gradFill>
            <a:gsLst>
              <a:gs pos="100000">
                <a:schemeClr val="accent1">
                  <a:lumMod val="60000"/>
                  <a:lumOff val="40000"/>
                </a:schemeClr>
              </a:gs>
              <a:gs pos="0">
                <a:schemeClr val="accent1"/>
              </a:gs>
            </a:gsLst>
            <a:lin ang="5400000" scaled="0"/>
          </a:gradFill>
          <a:ln w="19050">
            <a:solidFill>
              <a:schemeClr val="lt1"/>
            </a:solidFill>
          </a:ln>
          <a:effectLst/>
        </c:spPr>
      </c:pivotFmt>
      <c:pivotFmt>
        <c:idx val="13"/>
        <c:spPr>
          <a:gradFill>
            <a:gsLst>
              <a:gs pos="100000">
                <a:schemeClr val="accent1">
                  <a:lumMod val="60000"/>
                  <a:lumOff val="40000"/>
                </a:schemeClr>
              </a:gs>
              <a:gs pos="0">
                <a:schemeClr val="accent1"/>
              </a:gs>
            </a:gsLst>
            <a:lin ang="5400000" scaled="0"/>
          </a:gradFill>
          <a:ln w="19050">
            <a:solidFill>
              <a:schemeClr val="lt1"/>
            </a:solidFill>
          </a:ln>
          <a:effectLst/>
        </c:spPr>
      </c:pivotFmt>
    </c:pivotFmts>
    <c:plotArea>
      <c:layout/>
      <c:doughnutChart>
        <c:varyColors val="1"/>
        <c:ser>
          <c:idx val="0"/>
          <c:order val="0"/>
          <c:tx>
            <c:v>Total</c:v>
          </c:tx>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38E1-44CE-BB91-11D8F1418988}"/>
              </c:ext>
            </c:extLst>
          </c:dPt>
          <c:dPt>
            <c:idx val="1"/>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3-38E1-44CE-BB91-11D8F1418988}"/>
              </c:ext>
            </c:extLst>
          </c:dPt>
          <c:dPt>
            <c:idx val="2"/>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5-38E1-44CE-BB91-11D8F1418988}"/>
              </c:ext>
            </c:extLst>
          </c:dPt>
          <c:dPt>
            <c:idx val="3"/>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7-38E1-44CE-BB91-11D8F1418988}"/>
              </c:ext>
            </c:extLst>
          </c:dPt>
          <c:dPt>
            <c:idx val="4"/>
            <c:bubble3D val="0"/>
            <c:spPr>
              <a:gradFill>
                <a:gsLst>
                  <a:gs pos="100000">
                    <a:schemeClr val="accent3">
                      <a:lumMod val="60000"/>
                      <a:lumMod val="60000"/>
                      <a:lumOff val="40000"/>
                    </a:schemeClr>
                  </a:gs>
                  <a:gs pos="0">
                    <a:schemeClr val="accent3">
                      <a:lumMod val="60000"/>
                    </a:schemeClr>
                  </a:gs>
                </a:gsLst>
                <a:lin ang="5400000" scaled="0"/>
              </a:gradFill>
              <a:ln w="19050">
                <a:solidFill>
                  <a:schemeClr val="lt1"/>
                </a:solidFill>
              </a:ln>
              <a:effectLst/>
            </c:spPr>
            <c:extLst>
              <c:ext xmlns:c16="http://schemas.microsoft.com/office/drawing/2014/chart" uri="{C3380CC4-5D6E-409C-BE32-E72D297353CC}">
                <c16:uniqueId val="{00000009-38E1-44CE-BB91-11D8F1418988}"/>
              </c:ext>
            </c:extLst>
          </c:dPt>
          <c:dPt>
            <c:idx val="5"/>
            <c:bubble3D val="0"/>
            <c:spPr>
              <a:gradFill>
                <a:gsLst>
                  <a:gs pos="100000">
                    <a:schemeClr val="accent5">
                      <a:lumMod val="60000"/>
                      <a:lumMod val="60000"/>
                      <a:lumOff val="40000"/>
                    </a:schemeClr>
                  </a:gs>
                  <a:gs pos="0">
                    <a:schemeClr val="accent5">
                      <a:lumMod val="60000"/>
                    </a:schemeClr>
                  </a:gs>
                </a:gsLst>
                <a:lin ang="5400000" scaled="0"/>
              </a:gradFill>
              <a:ln w="19050">
                <a:solidFill>
                  <a:schemeClr val="lt1"/>
                </a:solidFill>
              </a:ln>
              <a:effectLst/>
            </c:spPr>
            <c:extLst>
              <c:ext xmlns:c16="http://schemas.microsoft.com/office/drawing/2014/chart" uri="{C3380CC4-5D6E-409C-BE32-E72D297353CC}">
                <c16:uniqueId val="{0000000B-38E1-44CE-BB91-11D8F1418988}"/>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Lit>
              <c:ptCount val="6"/>
              <c:pt idx="0">
                <c:v>night</c:v>
              </c:pt>
              <c:pt idx="1">
                <c:v>morning rush</c:v>
              </c:pt>
              <c:pt idx="2">
                <c:v>late morning</c:v>
              </c:pt>
              <c:pt idx="3">
                <c:v>Evening start</c:v>
              </c:pt>
              <c:pt idx="4">
                <c:v>early morning</c:v>
              </c:pt>
              <c:pt idx="5">
                <c:v>afternoon</c:v>
              </c:pt>
            </c:strLit>
          </c:cat>
          <c:val>
            <c:numLit>
              <c:formatCode>General</c:formatCode>
              <c:ptCount val="6"/>
              <c:pt idx="0">
                <c:v>1603</c:v>
              </c:pt>
              <c:pt idx="1">
                <c:v>1714</c:v>
              </c:pt>
              <c:pt idx="2">
                <c:v>1825</c:v>
              </c:pt>
              <c:pt idx="3">
                <c:v>1854</c:v>
              </c:pt>
              <c:pt idx="4">
                <c:v>1101</c:v>
              </c:pt>
              <c:pt idx="5">
                <c:v>1903</c:v>
              </c:pt>
            </c:numLit>
          </c:val>
          <c:extLst>
            <c:ext xmlns:c16="http://schemas.microsoft.com/office/drawing/2014/chart" uri="{C3380CC4-5D6E-409C-BE32-E72D297353CC}">
              <c16:uniqueId val="{0000000C-38E1-44CE-BB91-11D8F1418988}"/>
            </c:ext>
          </c:extLst>
        </c:ser>
        <c:dLbls>
          <c:showLegendKey val="0"/>
          <c:showVal val="0"/>
          <c:showCatName val="1"/>
          <c:showSerName val="0"/>
          <c:showPercent val="1"/>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r>
              <a:rPr lang="en-ZA" sz="1200"/>
              <a:t>Viewership</a:t>
            </a:r>
            <a:r>
              <a:rPr lang="en-ZA" sz="1200" baseline="0"/>
              <a:t> By Time Intervals </a:t>
            </a:r>
            <a:endParaRPr lang="en-ZA" sz="1200"/>
          </a:p>
        </c:rich>
      </c:tx>
      <c:overlay val="0"/>
      <c:spPr>
        <a:noFill/>
        <a:ln>
          <a:noFill/>
        </a:ln>
        <a:effectLst/>
      </c:spPr>
      <c:txPr>
        <a:bodyPr rot="0" spcFirstLastPara="1" vertOverflow="ellipsis" vert="horz" wrap="square" anchor="ctr" anchorCtr="1"/>
        <a:lstStyle/>
        <a:p>
          <a:pPr>
            <a:defRPr sz="1440" b="1" i="0" u="none" strike="noStrike" kern="1200" spc="0" normalizeH="0" baseline="0">
              <a:solidFill>
                <a:schemeClr val="dk1">
                  <a:lumMod val="50000"/>
                  <a:lumOff val="50000"/>
                </a:schemeClr>
              </a:solidFill>
              <a:latin typeface="Arial" panose="020B0604020202020204" pitchFamily="34" charset="0"/>
              <a:ea typeface="+mj-ea"/>
              <a:cs typeface="Arial" panose="020B0604020202020204" pitchFamily="34" charset="0"/>
            </a:defRPr>
          </a:pPr>
          <a:endParaRPr lang="en-ZA"/>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dLbl>
          <c:idx val="0"/>
          <c:showLegendKey val="0"/>
          <c:showVal val="1"/>
          <c:showCatName val="1"/>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a:gsLst>
              <a:gs pos="100000">
                <a:schemeClr val="accent1">
                  <a:lumMod val="60000"/>
                  <a:lumOff val="40000"/>
                </a:schemeClr>
              </a:gs>
              <a:gs pos="0">
                <a:schemeClr val="accent1"/>
              </a:gs>
            </a:gsLst>
            <a:lin ang="5400000" scaled="0"/>
          </a:gradFill>
          <a:ln w="2222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pivotFmt>
      <c:pivotFmt>
        <c:idx val="7"/>
        <c:spPr>
          <a:gradFill>
            <a:gsLst>
              <a:gs pos="100000">
                <a:schemeClr val="accent1">
                  <a:lumMod val="60000"/>
                  <a:lumOff val="40000"/>
                </a:schemeClr>
              </a:gs>
              <a:gs pos="0">
                <a:schemeClr val="accent1"/>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Total</c:v>
          </c:tx>
          <c:spPr>
            <a:gradFill>
              <a:gsLst>
                <a:gs pos="100000">
                  <a:schemeClr val="accent1">
                    <a:lumMod val="60000"/>
                    <a:lumOff val="40000"/>
                  </a:schemeClr>
                </a:gs>
                <a:gs pos="0">
                  <a:schemeClr val="accent1"/>
                </a:gs>
              </a:gsLst>
              <a:lin ang="5400000" scaled="0"/>
            </a:gra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dk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trendline>
            <c:spPr>
              <a:ln w="19050" cap="rnd">
                <a:solidFill>
                  <a:schemeClr val="accent1"/>
                </a:solidFill>
              </a:ln>
              <a:effectLst/>
            </c:spPr>
            <c:trendlineType val="movingAvg"/>
            <c:period val="2"/>
            <c:dispRSqr val="0"/>
            <c:dispEq val="0"/>
          </c:trendline>
          <c:cat>
            <c:strLit>
              <c:ptCount val="6"/>
              <c:pt idx="0">
                <c:v>night</c:v>
              </c:pt>
              <c:pt idx="1">
                <c:v>morning rush</c:v>
              </c:pt>
              <c:pt idx="2">
                <c:v>late morning</c:v>
              </c:pt>
              <c:pt idx="3">
                <c:v>Evening start</c:v>
              </c:pt>
              <c:pt idx="4">
                <c:v>early morning</c:v>
              </c:pt>
              <c:pt idx="5">
                <c:v>afternoon</c:v>
              </c:pt>
            </c:strLit>
          </c:cat>
          <c:val>
            <c:numLit>
              <c:formatCode>General</c:formatCode>
              <c:ptCount val="6"/>
              <c:pt idx="0">
                <c:v>1603</c:v>
              </c:pt>
              <c:pt idx="1">
                <c:v>1714</c:v>
              </c:pt>
              <c:pt idx="2">
                <c:v>1825</c:v>
              </c:pt>
              <c:pt idx="3">
                <c:v>1854</c:v>
              </c:pt>
              <c:pt idx="4">
                <c:v>1101</c:v>
              </c:pt>
              <c:pt idx="5">
                <c:v>1903</c:v>
              </c:pt>
            </c:numLit>
          </c:val>
          <c:extLst>
            <c:ext xmlns:c16="http://schemas.microsoft.com/office/drawing/2014/chart" uri="{C3380CC4-5D6E-409C-BE32-E72D297353CC}">
              <c16:uniqueId val="{00000001-1804-4EBF-B8B2-D1D47BD99563}"/>
            </c:ext>
          </c:extLst>
        </c:ser>
        <c:dLbls>
          <c:showLegendKey val="0"/>
          <c:showVal val="0"/>
          <c:showCatName val="0"/>
          <c:showSerName val="0"/>
          <c:showPercent val="0"/>
          <c:showBubbleSize val="0"/>
        </c:dLbls>
        <c:gapWidth val="75"/>
        <c:axId val="1684552656"/>
        <c:axId val="1684549776"/>
      </c:barChart>
      <c:catAx>
        <c:axId val="1684552656"/>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r>
                  <a:rPr lang="en-ZA"/>
                  <a:t>Time</a:t>
                </a:r>
                <a:r>
                  <a:rPr lang="en-ZA" baseline="0"/>
                  <a:t> Intervals</a:t>
                </a:r>
                <a:endParaRPr lang="en-ZA"/>
              </a:p>
            </c:rich>
          </c:tx>
          <c:layout>
            <c:manualLayout>
              <c:xMode val="edge"/>
              <c:yMode val="edge"/>
              <c:x val="0.44157358237197092"/>
              <c:y val="0.89042128197838033"/>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ZA"/>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cap="none" spc="0" normalizeH="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crossAx val="1684549776"/>
        <c:crosses val="autoZero"/>
        <c:auto val="1"/>
        <c:lblAlgn val="ctr"/>
        <c:lblOffset val="100"/>
        <c:noMultiLvlLbl val="0"/>
      </c:catAx>
      <c:valAx>
        <c:axId val="1684549776"/>
        <c:scaling>
          <c:orientation val="minMax"/>
        </c:scaling>
        <c:delete val="0"/>
        <c:axPos val="l"/>
        <c:title>
          <c:tx>
            <c:rich>
              <a:bodyPr rot="-540000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r>
                  <a:rPr lang="en-ZA"/>
                  <a:t>Number</a:t>
                </a:r>
                <a:r>
                  <a:rPr lang="en-ZA" baseline="0"/>
                  <a:t> of viewers</a:t>
                </a:r>
                <a:endParaRPr lang="en-ZA"/>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ZA"/>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crossAx val="1684552656"/>
        <c:crosses val="autoZero"/>
        <c:crossBetween val="between"/>
      </c:valAx>
      <c:spPr>
        <a:noFill/>
        <a:ln>
          <a:noFill/>
        </a:ln>
        <a:effectLst/>
      </c:spPr>
    </c:plotArea>
    <c:legend>
      <c:legendPos val="t"/>
      <c:overlay val="0"/>
      <c:spPr>
        <a:solidFill>
          <a:schemeClr val="lt1">
            <a:alpha val="50000"/>
          </a:schemeClr>
        </a:solidFill>
        <a:ln>
          <a:noFill/>
        </a:ln>
        <a:effectLst/>
      </c:spPr>
      <c:txPr>
        <a:bodyPr rot="0" spcFirstLastPara="1" vertOverflow="ellipsis" vert="horz" wrap="square" anchor="ctr" anchorCtr="1"/>
        <a:lstStyle/>
        <a:p>
          <a:pPr>
            <a:defRPr sz="1200" b="0" i="0" u="none" strike="noStrike" kern="1200" baseline="0">
              <a:solidFill>
                <a:schemeClr val="dk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Viewership of Days of the Week in Percentages(%).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5400">
            <a:solidFill>
              <a:schemeClr val="lt1"/>
            </a:solidFill>
          </a:ln>
          <a:effectLst/>
          <a:sp3d contourW="25400">
            <a:contourClr>
              <a:schemeClr val="lt1"/>
            </a:contourClr>
          </a:sp3d>
        </c:spPr>
        <c:marker>
          <c:symbol val="circle"/>
          <c:size val="5"/>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25400">
            <a:solidFill>
              <a:schemeClr val="lt1"/>
            </a:solidFill>
          </a:ln>
          <a:effectLst/>
          <a:sp3d contourW="25400">
            <a:contourClr>
              <a:schemeClr val="lt1"/>
            </a:contourClr>
          </a:sp3d>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olidFill>
          <a:ln w="25400">
            <a:solidFill>
              <a:schemeClr val="lt1"/>
            </a:solidFill>
          </a:ln>
          <a:effectLst/>
          <a:sp3d contourW="25400">
            <a:contourClr>
              <a:schemeClr val="lt1"/>
            </a:contourClr>
          </a:sp3d>
        </c:spPr>
      </c:pivotFmt>
      <c:pivotFmt>
        <c:idx val="3"/>
        <c:spPr>
          <a:solidFill>
            <a:schemeClr val="accent1"/>
          </a:solidFill>
          <a:ln w="25400">
            <a:solidFill>
              <a:schemeClr val="lt1"/>
            </a:solidFill>
          </a:ln>
          <a:effectLst/>
          <a:sp3d contourW="25400">
            <a:contourClr>
              <a:schemeClr val="lt1"/>
            </a:contourClr>
          </a:sp3d>
        </c:spPr>
      </c:pivotFmt>
      <c:pivotFmt>
        <c:idx val="4"/>
        <c:spPr>
          <a:solidFill>
            <a:schemeClr val="accent1"/>
          </a:solidFill>
          <a:ln w="25400">
            <a:solidFill>
              <a:schemeClr val="lt1"/>
            </a:solidFill>
          </a:ln>
          <a:effectLst/>
          <a:sp3d contourW="25400">
            <a:contourClr>
              <a:schemeClr val="lt1"/>
            </a:contourClr>
          </a:sp3d>
        </c:spPr>
      </c:pivotFmt>
      <c:pivotFmt>
        <c:idx val="5"/>
        <c:spPr>
          <a:solidFill>
            <a:schemeClr val="accent1"/>
          </a:solidFill>
          <a:ln w="25400">
            <a:solidFill>
              <a:schemeClr val="lt1"/>
            </a:solidFill>
          </a:ln>
          <a:effectLst/>
          <a:sp3d contourW="25400">
            <a:contourClr>
              <a:schemeClr val="lt1"/>
            </a:contourClr>
          </a:sp3d>
        </c:spPr>
      </c:pivotFmt>
      <c:pivotFmt>
        <c:idx val="6"/>
        <c:spPr>
          <a:solidFill>
            <a:schemeClr val="accent1"/>
          </a:solidFill>
          <a:ln w="25400">
            <a:solidFill>
              <a:schemeClr val="lt1"/>
            </a:solidFill>
          </a:ln>
          <a:effectLst/>
          <a:sp3d contourW="25400">
            <a:contourClr>
              <a:schemeClr val="lt1"/>
            </a:contourClr>
          </a:sp3d>
        </c:spPr>
      </c:pivotFmt>
      <c:pivotFmt>
        <c:idx val="7"/>
        <c:spPr>
          <a:solidFill>
            <a:schemeClr val="accent1"/>
          </a:solidFill>
          <a:ln w="25400">
            <a:solidFill>
              <a:schemeClr val="lt1"/>
            </a:solidFill>
          </a:ln>
          <a:effectLst/>
          <a:sp3d contourW="25400">
            <a:contourClr>
              <a:schemeClr val="lt1"/>
            </a:contourClr>
          </a:sp3d>
        </c:spPr>
      </c:pivotFmt>
      <c:pivotFmt>
        <c:idx val="8"/>
        <c:spPr>
          <a:solidFill>
            <a:schemeClr val="accent1"/>
          </a:solidFill>
          <a:ln w="2540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v>Total</c:v>
          </c:tx>
          <c:explosion val="7"/>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A676-4DE6-B65F-12D8497DB43B}"/>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A676-4DE6-B65F-12D8497DB43B}"/>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A676-4DE6-B65F-12D8497DB43B}"/>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A676-4DE6-B65F-12D8497DB43B}"/>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A676-4DE6-B65F-12D8497DB43B}"/>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A676-4DE6-B65F-12D8497DB43B}"/>
              </c:ext>
            </c:extLst>
          </c:dPt>
          <c:dPt>
            <c:idx val="6"/>
            <c:bubble3D val="0"/>
            <c:spPr>
              <a:solidFill>
                <a:schemeClr val="accent1">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D-A676-4DE6-B65F-12D8497DB43B}"/>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Lit>
              <c:ptCount val="7"/>
              <c:pt idx="0">
                <c:v>Sun</c:v>
              </c:pt>
              <c:pt idx="1">
                <c:v>Mon</c:v>
              </c:pt>
              <c:pt idx="2">
                <c:v>Tue</c:v>
              </c:pt>
              <c:pt idx="3">
                <c:v>Wed</c:v>
              </c:pt>
              <c:pt idx="4">
                <c:v>Thu</c:v>
              </c:pt>
              <c:pt idx="5">
                <c:v>Fri</c:v>
              </c:pt>
              <c:pt idx="6">
                <c:v>Sat</c:v>
              </c:pt>
            </c:strLit>
          </c:cat>
          <c:val>
            <c:numLit>
              <c:formatCode>General</c:formatCode>
              <c:ptCount val="7"/>
              <c:pt idx="0">
                <c:v>1398</c:v>
              </c:pt>
              <c:pt idx="1">
                <c:v>974</c:v>
              </c:pt>
              <c:pt idx="2">
                <c:v>1321</c:v>
              </c:pt>
              <c:pt idx="3">
                <c:v>1539</c:v>
              </c:pt>
              <c:pt idx="4">
                <c:v>1471</c:v>
              </c:pt>
              <c:pt idx="5">
                <c:v>1642</c:v>
              </c:pt>
              <c:pt idx="6">
                <c:v>1655</c:v>
              </c:pt>
            </c:numLit>
          </c:val>
          <c:extLst>
            <c:ext xmlns:c16="http://schemas.microsoft.com/office/drawing/2014/chart" uri="{C3380CC4-5D6E-409C-BE32-E72D297353CC}">
              <c16:uniqueId val="{0000000E-A676-4DE6-B65F-12D8497DB43B}"/>
            </c:ext>
          </c:extLst>
        </c:ser>
        <c:dLbls>
          <c:showLegendKey val="0"/>
          <c:showVal val="0"/>
          <c:showCatName val="0"/>
          <c:showSerName val="0"/>
          <c:showPercent val="0"/>
          <c:showBubbleSize val="0"/>
          <c:showLeaderLines val="0"/>
        </c:dLbls>
      </c:pie3DChart>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ZA"/>
              <a:t>Viewership of Days of the Week.</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v>Total</c:v>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7"/>
              <c:pt idx="0">
                <c:v>Sun</c:v>
              </c:pt>
              <c:pt idx="1">
                <c:v>Mon</c:v>
              </c:pt>
              <c:pt idx="2">
                <c:v>Tue</c:v>
              </c:pt>
              <c:pt idx="3">
                <c:v>Wed</c:v>
              </c:pt>
              <c:pt idx="4">
                <c:v>Thu</c:v>
              </c:pt>
              <c:pt idx="5">
                <c:v>Fri</c:v>
              </c:pt>
              <c:pt idx="6">
                <c:v>Sat</c:v>
              </c:pt>
            </c:strLit>
          </c:cat>
          <c:val>
            <c:numLit>
              <c:formatCode>General</c:formatCode>
              <c:ptCount val="7"/>
              <c:pt idx="0">
                <c:v>1398</c:v>
              </c:pt>
              <c:pt idx="1">
                <c:v>974</c:v>
              </c:pt>
              <c:pt idx="2">
                <c:v>1321</c:v>
              </c:pt>
              <c:pt idx="3">
                <c:v>1539</c:v>
              </c:pt>
              <c:pt idx="4">
                <c:v>1471</c:v>
              </c:pt>
              <c:pt idx="5">
                <c:v>1642</c:v>
              </c:pt>
              <c:pt idx="6">
                <c:v>1655</c:v>
              </c:pt>
            </c:numLit>
          </c:val>
          <c:extLst>
            <c:ext xmlns:c16="http://schemas.microsoft.com/office/drawing/2014/chart" uri="{C3380CC4-5D6E-409C-BE32-E72D297353CC}">
              <c16:uniqueId val="{00000000-59FE-4713-AD90-507304A8FFAA}"/>
            </c:ext>
          </c:extLst>
        </c:ser>
        <c:dLbls>
          <c:showLegendKey val="0"/>
          <c:showVal val="1"/>
          <c:showCatName val="0"/>
          <c:showSerName val="0"/>
          <c:showPercent val="0"/>
          <c:showBubbleSize val="0"/>
        </c:dLbls>
        <c:gapWidth val="150"/>
        <c:shape val="box"/>
        <c:axId val="1807256208"/>
        <c:axId val="1807259568"/>
        <c:axId val="1234850672"/>
      </c:bar3DChart>
      <c:catAx>
        <c:axId val="1807256208"/>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ZA"/>
                  <a:t>Days Of The Week</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7259568"/>
        <c:crosses val="autoZero"/>
        <c:auto val="1"/>
        <c:lblAlgn val="ctr"/>
        <c:lblOffset val="100"/>
        <c:noMultiLvlLbl val="0"/>
      </c:catAx>
      <c:valAx>
        <c:axId val="18072595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ZA"/>
                  <a:t>Number of Viewers</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7256208"/>
        <c:crosses val="autoZero"/>
        <c:crossBetween val="between"/>
      </c:valAx>
      <c:serAx>
        <c:axId val="1234850672"/>
        <c:scaling>
          <c:orientation val="minMax"/>
        </c:scaling>
        <c:delete val="0"/>
        <c:axPos val="b"/>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7259568"/>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Viewership by</a:t>
            </a:r>
            <a:r>
              <a:rPr lang="en-ZA" baseline="0"/>
              <a:t> Age Basket</a:t>
            </a:r>
            <a:endParaRPr lang="en-ZA"/>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dLbl>
          <c:idx val="0"/>
          <c:dLblPos val="outEnd"/>
          <c:showLegendKey val="0"/>
          <c:showVal val="1"/>
          <c:showCatName val="1"/>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Total</c:v>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7"/>
              <c:pt idx="0">
                <c:v>Adolescence</c:v>
              </c:pt>
              <c:pt idx="1">
                <c:v>Early Adulthood</c:v>
              </c:pt>
              <c:pt idx="2">
                <c:v>Infancy</c:v>
              </c:pt>
              <c:pt idx="3">
                <c:v>Late Adulthood</c:v>
              </c:pt>
              <c:pt idx="4">
                <c:v>Later Childhood</c:v>
              </c:pt>
              <c:pt idx="5">
                <c:v>Middle Adulthood</c:v>
              </c:pt>
              <c:pt idx="6">
                <c:v>OLDEST</c:v>
              </c:pt>
            </c:strLit>
          </c:cat>
          <c:val>
            <c:numLit>
              <c:formatCode>General</c:formatCode>
              <c:ptCount val="7"/>
              <c:pt idx="0">
                <c:v>318</c:v>
              </c:pt>
              <c:pt idx="1">
                <c:v>7003</c:v>
              </c:pt>
              <c:pt idx="2">
                <c:v>260</c:v>
              </c:pt>
              <c:pt idx="3">
                <c:v>91</c:v>
              </c:pt>
              <c:pt idx="4">
                <c:v>99</c:v>
              </c:pt>
              <c:pt idx="5">
                <c:v>2216</c:v>
              </c:pt>
              <c:pt idx="6">
                <c:v>13</c:v>
              </c:pt>
            </c:numLit>
          </c:val>
          <c:extLst>
            <c:ext xmlns:c16="http://schemas.microsoft.com/office/drawing/2014/chart" uri="{C3380CC4-5D6E-409C-BE32-E72D297353CC}">
              <c16:uniqueId val="{00000000-C818-451C-9F71-00303237FBB4}"/>
            </c:ext>
          </c:extLst>
        </c:ser>
        <c:dLbls>
          <c:dLblPos val="outEnd"/>
          <c:showLegendKey val="0"/>
          <c:showVal val="1"/>
          <c:showCatName val="0"/>
          <c:showSerName val="0"/>
          <c:showPercent val="0"/>
          <c:showBubbleSize val="0"/>
        </c:dLbls>
        <c:gapWidth val="219"/>
        <c:overlap val="-27"/>
        <c:axId val="1807256208"/>
        <c:axId val="1807259568"/>
      </c:barChart>
      <c:catAx>
        <c:axId val="18072562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Age</a:t>
                </a:r>
                <a:r>
                  <a:rPr lang="en-ZA" baseline="0"/>
                  <a:t> Basket</a:t>
                </a:r>
                <a:endParaRPr lang="en-ZA"/>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ZA"/>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7259568"/>
        <c:crosses val="autoZero"/>
        <c:auto val="1"/>
        <c:lblAlgn val="ctr"/>
        <c:lblOffset val="100"/>
        <c:noMultiLvlLbl val="0"/>
      </c:catAx>
      <c:valAx>
        <c:axId val="18072595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Number of Viewers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7256208"/>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Viewership by</a:t>
            </a:r>
            <a:r>
              <a:rPr lang="en-ZA" baseline="0"/>
              <a:t> Age Basket in percentages%</a:t>
            </a:r>
            <a:endParaRPr lang="en-ZA"/>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dLbl>
          <c:idx val="0"/>
          <c:dLblPos val="outEnd"/>
          <c:showLegendKey val="0"/>
          <c:showVal val="1"/>
          <c:showCatName val="1"/>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6"/>
          </a:solidFill>
          <a:ln>
            <a:noFill/>
          </a:ln>
          <a:effectLst/>
        </c:spPr>
      </c:pivotFmt>
      <c:pivotFmt>
        <c:idx val="5"/>
        <c:spPr>
          <a:solidFill>
            <a:schemeClr val="accent6"/>
          </a:solidFill>
          <a:ln>
            <a:noFill/>
          </a:ln>
          <a:effectLst/>
        </c:spPr>
      </c:pivotFmt>
      <c:pivotFmt>
        <c:idx val="6"/>
        <c:spPr>
          <a:solidFill>
            <a:schemeClr val="accent6"/>
          </a:solidFill>
          <a:ln>
            <a:noFill/>
          </a:ln>
          <a:effectLst/>
        </c:spPr>
      </c:pivotFmt>
      <c:pivotFmt>
        <c:idx val="7"/>
        <c:spPr>
          <a:solidFill>
            <a:schemeClr val="accent6"/>
          </a:solidFill>
          <a:ln>
            <a:noFill/>
          </a:ln>
          <a:effectLst/>
        </c:spPr>
      </c:pivotFmt>
      <c:pivotFmt>
        <c:idx val="8"/>
        <c:spPr>
          <a:solidFill>
            <a:schemeClr val="accent6"/>
          </a:solidFill>
          <a:ln>
            <a:noFill/>
          </a:ln>
          <a:effectLst/>
        </c:spPr>
      </c:pivotFmt>
      <c:pivotFmt>
        <c:idx val="9"/>
        <c:spPr>
          <a:solidFill>
            <a:schemeClr val="accent6"/>
          </a:solidFill>
          <a:ln>
            <a:noFill/>
          </a:ln>
          <a:effectLst/>
        </c:spPr>
      </c:pivotFmt>
      <c:pivotFmt>
        <c:idx val="10"/>
        <c:spPr>
          <a:solidFill>
            <a:schemeClr val="accent6"/>
          </a:solidFill>
          <a:ln>
            <a:noFill/>
          </a:ln>
          <a:effectLst/>
        </c:spPr>
      </c:pivotFmt>
    </c:pivotFmts>
    <c:plotArea>
      <c:layout>
        <c:manualLayout>
          <c:layoutTarget val="inner"/>
          <c:xMode val="edge"/>
          <c:yMode val="edge"/>
          <c:x val="7.4284205265937667E-2"/>
          <c:y val="4.3714009991194923E-2"/>
          <c:w val="0.67402079785642499"/>
          <c:h val="0.87301654383450789"/>
        </c:manualLayout>
      </c:layout>
      <c:ofPieChart>
        <c:ofPieType val="pie"/>
        <c:varyColors val="1"/>
        <c:ser>
          <c:idx val="0"/>
          <c:order val="0"/>
          <c:tx>
            <c:v>Total</c:v>
          </c:tx>
          <c:dPt>
            <c:idx val="0"/>
            <c:bubble3D val="0"/>
            <c:spPr>
              <a:solidFill>
                <a:schemeClr val="accent6"/>
              </a:solidFill>
              <a:ln>
                <a:noFill/>
              </a:ln>
              <a:effectLst/>
            </c:spPr>
            <c:extLst>
              <c:ext xmlns:c16="http://schemas.microsoft.com/office/drawing/2014/chart" uri="{C3380CC4-5D6E-409C-BE32-E72D297353CC}">
                <c16:uniqueId val="{00000001-5BF4-47A0-9850-03B7C0225DE7}"/>
              </c:ext>
            </c:extLst>
          </c:dPt>
          <c:dPt>
            <c:idx val="1"/>
            <c:bubble3D val="0"/>
            <c:spPr>
              <a:solidFill>
                <a:schemeClr val="accent5"/>
              </a:solidFill>
              <a:ln>
                <a:noFill/>
              </a:ln>
              <a:effectLst/>
            </c:spPr>
            <c:extLst>
              <c:ext xmlns:c16="http://schemas.microsoft.com/office/drawing/2014/chart" uri="{C3380CC4-5D6E-409C-BE32-E72D297353CC}">
                <c16:uniqueId val="{00000003-5BF4-47A0-9850-03B7C0225DE7}"/>
              </c:ext>
            </c:extLst>
          </c:dPt>
          <c:dPt>
            <c:idx val="2"/>
            <c:bubble3D val="0"/>
            <c:spPr>
              <a:solidFill>
                <a:schemeClr val="accent4"/>
              </a:solidFill>
              <a:ln>
                <a:noFill/>
              </a:ln>
              <a:effectLst/>
            </c:spPr>
            <c:extLst>
              <c:ext xmlns:c16="http://schemas.microsoft.com/office/drawing/2014/chart" uri="{C3380CC4-5D6E-409C-BE32-E72D297353CC}">
                <c16:uniqueId val="{00000005-5BF4-47A0-9850-03B7C0225DE7}"/>
              </c:ext>
            </c:extLst>
          </c:dPt>
          <c:dPt>
            <c:idx val="3"/>
            <c:bubble3D val="0"/>
            <c:spPr>
              <a:solidFill>
                <a:schemeClr val="accent6">
                  <a:lumMod val="60000"/>
                </a:schemeClr>
              </a:solidFill>
              <a:ln>
                <a:noFill/>
              </a:ln>
              <a:effectLst/>
            </c:spPr>
            <c:extLst>
              <c:ext xmlns:c16="http://schemas.microsoft.com/office/drawing/2014/chart" uri="{C3380CC4-5D6E-409C-BE32-E72D297353CC}">
                <c16:uniqueId val="{00000007-5BF4-47A0-9850-03B7C0225DE7}"/>
              </c:ext>
            </c:extLst>
          </c:dPt>
          <c:dPt>
            <c:idx val="4"/>
            <c:bubble3D val="0"/>
            <c:spPr>
              <a:solidFill>
                <a:schemeClr val="accent5">
                  <a:lumMod val="60000"/>
                </a:schemeClr>
              </a:solidFill>
              <a:ln>
                <a:noFill/>
              </a:ln>
              <a:effectLst/>
            </c:spPr>
            <c:extLst>
              <c:ext xmlns:c16="http://schemas.microsoft.com/office/drawing/2014/chart" uri="{C3380CC4-5D6E-409C-BE32-E72D297353CC}">
                <c16:uniqueId val="{00000009-5BF4-47A0-9850-03B7C0225DE7}"/>
              </c:ext>
            </c:extLst>
          </c:dPt>
          <c:dPt>
            <c:idx val="5"/>
            <c:bubble3D val="0"/>
            <c:spPr>
              <a:solidFill>
                <a:schemeClr val="accent4">
                  <a:lumMod val="60000"/>
                </a:schemeClr>
              </a:solidFill>
              <a:ln>
                <a:noFill/>
              </a:ln>
              <a:effectLst/>
            </c:spPr>
            <c:extLst>
              <c:ext xmlns:c16="http://schemas.microsoft.com/office/drawing/2014/chart" uri="{C3380CC4-5D6E-409C-BE32-E72D297353CC}">
                <c16:uniqueId val="{0000000B-5BF4-47A0-9850-03B7C0225DE7}"/>
              </c:ext>
            </c:extLst>
          </c:dPt>
          <c:dPt>
            <c:idx val="6"/>
            <c:bubble3D val="0"/>
            <c:spPr>
              <a:solidFill>
                <a:schemeClr val="accent6">
                  <a:lumMod val="80000"/>
                  <a:lumOff val="20000"/>
                </a:schemeClr>
              </a:solidFill>
              <a:ln>
                <a:noFill/>
              </a:ln>
              <a:effectLst/>
            </c:spPr>
            <c:extLst>
              <c:ext xmlns:c16="http://schemas.microsoft.com/office/drawing/2014/chart" uri="{C3380CC4-5D6E-409C-BE32-E72D297353CC}">
                <c16:uniqueId val="{0000000D-5BF4-47A0-9850-03B7C0225DE7}"/>
              </c:ext>
            </c:extLst>
          </c:dPt>
          <c:dPt>
            <c:idx val="7"/>
            <c:bubble3D val="0"/>
            <c:spPr>
              <a:solidFill>
                <a:schemeClr val="accent5">
                  <a:lumMod val="80000"/>
                  <a:lumOff val="20000"/>
                </a:schemeClr>
              </a:solidFill>
              <a:ln>
                <a:noFill/>
              </a:ln>
              <a:effectLst/>
            </c:spPr>
            <c:extLst>
              <c:ext xmlns:c16="http://schemas.microsoft.com/office/drawing/2014/chart" uri="{C3380CC4-5D6E-409C-BE32-E72D297353CC}">
                <c16:uniqueId val="{0000000F-5BF4-47A0-9850-03B7C0225DE7}"/>
              </c:ext>
            </c:extLst>
          </c:dPt>
          <c:dPt>
            <c:idx val="8"/>
            <c:bubble3D val="0"/>
            <c:spPr>
              <a:solidFill>
                <a:schemeClr val="accent4">
                  <a:lumMod val="80000"/>
                  <a:lumOff val="20000"/>
                </a:schemeClr>
              </a:solidFill>
              <a:ln>
                <a:noFill/>
              </a:ln>
              <a:effectLst/>
            </c:spPr>
            <c:extLst>
              <c:ext xmlns:c16="http://schemas.microsoft.com/office/drawing/2014/chart" uri="{C3380CC4-5D6E-409C-BE32-E72D297353CC}">
                <c16:uniqueId val="{00000011-5BF4-47A0-9850-03B7C0225DE7}"/>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Lit>
              <c:ptCount val="9"/>
              <c:pt idx="0">
                <c:v>Adolescence</c:v>
              </c:pt>
              <c:pt idx="1">
                <c:v>Early Adulthood</c:v>
              </c:pt>
              <c:pt idx="2">
                <c:v>Infancy</c:v>
              </c:pt>
              <c:pt idx="3">
                <c:v>Late Adulthood</c:v>
              </c:pt>
              <c:pt idx="4">
                <c:v>Later Childhood</c:v>
              </c:pt>
              <c:pt idx="5">
                <c:v>Middle Adulthood</c:v>
              </c:pt>
              <c:pt idx="6">
                <c:v>OLDEST</c:v>
              </c:pt>
            </c:strLit>
          </c:cat>
          <c:val>
            <c:numLit>
              <c:formatCode>General</c:formatCode>
              <c:ptCount val="8"/>
              <c:pt idx="0">
                <c:v>318</c:v>
              </c:pt>
              <c:pt idx="1">
                <c:v>7003</c:v>
              </c:pt>
              <c:pt idx="2">
                <c:v>260</c:v>
              </c:pt>
              <c:pt idx="3">
                <c:v>91</c:v>
              </c:pt>
              <c:pt idx="4">
                <c:v>99</c:v>
              </c:pt>
              <c:pt idx="5">
                <c:v>2216</c:v>
              </c:pt>
              <c:pt idx="6">
                <c:v>13</c:v>
              </c:pt>
              <c:pt idx="7">
                <c:v>2328</c:v>
              </c:pt>
            </c:numLit>
          </c:val>
          <c:extLst>
            <c:ext xmlns:c16="http://schemas.microsoft.com/office/drawing/2014/chart" uri="{C3380CC4-5D6E-409C-BE32-E72D297353CC}">
              <c16:uniqueId val="{00000012-5BF4-47A0-9850-03B7C0225DE7}"/>
            </c:ext>
          </c:extLst>
        </c:ser>
        <c:dLbls>
          <c:dLblPos val="bestFit"/>
          <c:showLegendKey val="0"/>
          <c:showVal val="0"/>
          <c:showCatName val="0"/>
          <c:showSerName val="0"/>
          <c:showPercent val="1"/>
          <c:showBubbleSize val="0"/>
          <c:showLeaderLines val="1"/>
        </c:dLbls>
        <c:gapWidth val="219"/>
        <c:secondPieSize val="75"/>
        <c:serLines>
          <c:spPr>
            <a:ln w="9525" cap="flat" cmpd="sng" algn="ctr">
              <a:solidFill>
                <a:schemeClr val="tx1">
                  <a:lumMod val="35000"/>
                  <a:lumOff val="65000"/>
                </a:schemeClr>
              </a:solidFill>
              <a:round/>
            </a:ln>
            <a:effectLst/>
          </c:spPr>
        </c:serLines>
      </c:of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8">
  <a:schemeClr val="accent5"/>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2550514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333146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4115886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344FD7-D48E-42A8-840D-5125CEDC842D}" type="datetimeFigureOut">
              <a:rPr lang="en-ZA" smtClean="0"/>
              <a:t>2026/04/19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1710678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344FD7-D48E-42A8-840D-5125CEDC842D}" type="datetimeFigureOut">
              <a:rPr lang="en-ZA" smtClean="0"/>
              <a:t>2026/04/19</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3808791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3"/>
          <p:cNvSpPr>
            <a:spLocks noGrp="1"/>
          </p:cNvSpPr>
          <p:nvPr>
            <p:ph type="ftr" sz="quarter" idx="11"/>
          </p:nvPr>
        </p:nvSpPr>
        <p:spPr/>
        <p:txBody>
          <a:bodyPr/>
          <a:lstStyle/>
          <a:p>
            <a:endParaRPr lang="en-ZA"/>
          </a:p>
        </p:txBody>
      </p:sp>
      <p:sp>
        <p:nvSpPr>
          <p:cNvPr id="6" name="Slide Number Placeholder 4"/>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3450041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2"/>
          <p:cNvSpPr>
            <a:spLocks noGrp="1"/>
          </p:cNvSpPr>
          <p:nvPr>
            <p:ph type="ftr" sz="quarter" idx="11"/>
          </p:nvPr>
        </p:nvSpPr>
        <p:spPr/>
        <p:txBody>
          <a:bodyPr/>
          <a:lstStyle/>
          <a:p>
            <a:endParaRPr lang="en-ZA"/>
          </a:p>
        </p:txBody>
      </p:sp>
      <p:sp>
        <p:nvSpPr>
          <p:cNvPr id="6" name="Slide Number Placeholder 3"/>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3201127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5"/>
          <p:cNvSpPr>
            <a:spLocks noGrp="1"/>
          </p:cNvSpPr>
          <p:nvPr>
            <p:ph type="ftr" sz="quarter" idx="11"/>
          </p:nvPr>
        </p:nvSpPr>
        <p:spPr/>
        <p:txBody>
          <a:bodyPr/>
          <a:lstStyle/>
          <a:p>
            <a:endParaRPr lang="en-ZA"/>
          </a:p>
        </p:txBody>
      </p:sp>
      <p:sp>
        <p:nvSpPr>
          <p:cNvPr id="6" name="Slide Number Placeholder 6"/>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1575289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344FD7-D48E-42A8-840D-5125CEDC842D}" type="datetimeFigureOut">
              <a:rPr lang="en-ZA" smtClean="0"/>
              <a:t>2026/04/19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3318921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344FD7-D48E-42A8-840D-5125CEDC842D}" type="datetimeFigureOut">
              <a:rPr lang="en-ZA" smtClean="0"/>
              <a:t>2026/04/19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2091891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79539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208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3198473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580330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3372986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24716370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344FD7-D48E-42A8-840D-5125CEDC842D}" type="datetimeFigureOut">
              <a:rPr lang="en-ZA" smtClean="0"/>
              <a:t>2026/04/19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6B59713-7EC1-40B2-BB12-7134C5C71B9F}" type="slidenum">
              <a:rPr lang="en-ZA" smtClean="0"/>
              <a:t>‹#›</a:t>
            </a:fld>
            <a:endParaRPr lang="en-ZA"/>
          </a:p>
        </p:txBody>
      </p:sp>
    </p:spTree>
    <p:extLst>
      <p:ext uri="{BB962C8B-B14F-4D97-AF65-F5344CB8AC3E}">
        <p14:creationId xmlns:p14="http://schemas.microsoft.com/office/powerpoint/2010/main" val="2779958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E344FD7-D48E-42A8-840D-5125CEDC842D}" type="datetimeFigureOut">
              <a:rPr lang="en-ZA" smtClean="0"/>
              <a:t>2026/04/19</a:t>
            </a:fld>
            <a:endParaRPr lang="en-Z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Z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6B59713-7EC1-40B2-BB12-7134C5C71B9F}" type="slidenum">
              <a:rPr lang="en-ZA" smtClean="0"/>
              <a:t>‹#›</a:t>
            </a:fld>
            <a:endParaRPr lang="en-ZA"/>
          </a:p>
        </p:txBody>
      </p:sp>
    </p:spTree>
    <p:extLst>
      <p:ext uri="{BB962C8B-B14F-4D97-AF65-F5344CB8AC3E}">
        <p14:creationId xmlns:p14="http://schemas.microsoft.com/office/powerpoint/2010/main" val="3956521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5E05-0945-FDF7-7875-E548C64D0004}"/>
              </a:ext>
            </a:extLst>
          </p:cNvPr>
          <p:cNvSpPr>
            <a:spLocks noGrp="1"/>
          </p:cNvSpPr>
          <p:nvPr>
            <p:ph type="ctrTitle"/>
          </p:nvPr>
        </p:nvSpPr>
        <p:spPr>
          <a:xfrm>
            <a:off x="1258529" y="0"/>
            <a:ext cx="9144000" cy="2387600"/>
          </a:xfrm>
        </p:spPr>
        <p:txBody>
          <a:bodyPr>
            <a:normAutofit/>
          </a:bodyPr>
          <a:lstStyle/>
          <a:p>
            <a:r>
              <a:rPr lang="en-GB" b="1" dirty="0">
                <a:cs typeface="Arial" panose="020B0604020202020204" pitchFamily="34" charset="0"/>
              </a:rPr>
              <a:t>Bright TV Report</a:t>
            </a:r>
            <a:endParaRPr lang="en-ZA" b="1" dirty="0">
              <a:cs typeface="Arial" panose="020B0604020202020204" pitchFamily="34" charset="0"/>
            </a:endParaRPr>
          </a:p>
        </p:txBody>
      </p:sp>
      <p:sp>
        <p:nvSpPr>
          <p:cNvPr id="3" name="Subtitle 2">
            <a:extLst>
              <a:ext uri="{FF2B5EF4-FFF2-40B4-BE49-F238E27FC236}">
                <a16:creationId xmlns:a16="http://schemas.microsoft.com/office/drawing/2014/main" id="{13AB4435-82BB-3167-F72D-F920D4EB92D5}"/>
              </a:ext>
            </a:extLst>
          </p:cNvPr>
          <p:cNvSpPr>
            <a:spLocks noGrp="1"/>
          </p:cNvSpPr>
          <p:nvPr>
            <p:ph type="subTitle" idx="1"/>
          </p:nvPr>
        </p:nvSpPr>
        <p:spPr>
          <a:xfrm>
            <a:off x="1111045" y="2210619"/>
            <a:ext cx="9144000" cy="2870200"/>
          </a:xfrm>
        </p:spPr>
        <p:txBody>
          <a:bodyPr/>
          <a:lstStyle/>
          <a:p>
            <a:r>
              <a:rPr lang="en-GB" dirty="0"/>
              <a:t>Dataset overview · January–March 2016 · South Africa</a:t>
            </a:r>
          </a:p>
          <a:p>
            <a:endParaRPr lang="en-ZA" dirty="0"/>
          </a:p>
        </p:txBody>
      </p:sp>
      <p:graphicFrame>
        <p:nvGraphicFramePr>
          <p:cNvPr id="4" name="Table 3">
            <a:extLst>
              <a:ext uri="{FF2B5EF4-FFF2-40B4-BE49-F238E27FC236}">
                <a16:creationId xmlns:a16="http://schemas.microsoft.com/office/drawing/2014/main" id="{8FB58CF2-866D-72ED-24A1-CC5EA51FF2FB}"/>
              </a:ext>
            </a:extLst>
          </p:cNvPr>
          <p:cNvGraphicFramePr>
            <a:graphicFrameLocks noGrp="1"/>
          </p:cNvGraphicFramePr>
          <p:nvPr>
            <p:extLst>
              <p:ext uri="{D42A27DB-BD31-4B8C-83A1-F6EECF244321}">
                <p14:modId xmlns:p14="http://schemas.microsoft.com/office/powerpoint/2010/main" val="4016092832"/>
              </p:ext>
            </p:extLst>
          </p:nvPr>
        </p:nvGraphicFramePr>
        <p:xfrm>
          <a:off x="1371601" y="2802194"/>
          <a:ext cx="6828502" cy="1828800"/>
        </p:xfrm>
        <a:graphic>
          <a:graphicData uri="http://schemas.openxmlformats.org/drawingml/2006/table">
            <a:tbl>
              <a:tblPr firstRow="1" bandRow="1">
                <a:tableStyleId>{5C22544A-7EE6-4342-B048-85BDC9FD1C3A}</a:tableStyleId>
              </a:tblPr>
              <a:tblGrid>
                <a:gridCol w="2885535">
                  <a:extLst>
                    <a:ext uri="{9D8B030D-6E8A-4147-A177-3AD203B41FA5}">
                      <a16:colId xmlns:a16="http://schemas.microsoft.com/office/drawing/2014/main" val="3178586315"/>
                    </a:ext>
                  </a:extLst>
                </a:gridCol>
                <a:gridCol w="3942967">
                  <a:extLst>
                    <a:ext uri="{9D8B030D-6E8A-4147-A177-3AD203B41FA5}">
                      <a16:colId xmlns:a16="http://schemas.microsoft.com/office/drawing/2014/main" val="507608228"/>
                    </a:ext>
                  </a:extLst>
                </a:gridCol>
              </a:tblGrid>
              <a:tr h="359205">
                <a:tc>
                  <a:txBody>
                    <a:bodyPr/>
                    <a:lstStyle/>
                    <a:p>
                      <a:r>
                        <a:rPr lang="en-GB" dirty="0"/>
                        <a:t>Total Records</a:t>
                      </a:r>
                      <a:endParaRPr lang="en-ZA" dirty="0"/>
                    </a:p>
                  </a:txBody>
                  <a:tcPr/>
                </a:tc>
                <a:tc>
                  <a:txBody>
                    <a:bodyPr/>
                    <a:lstStyle/>
                    <a:p>
                      <a:r>
                        <a:rPr lang="en-GB" dirty="0"/>
                        <a:t>10, 000</a:t>
                      </a:r>
                      <a:endParaRPr lang="en-ZA" dirty="0"/>
                    </a:p>
                  </a:txBody>
                  <a:tcPr/>
                </a:tc>
                <a:extLst>
                  <a:ext uri="{0D108BD9-81ED-4DB2-BD59-A6C34878D82A}">
                    <a16:rowId xmlns:a16="http://schemas.microsoft.com/office/drawing/2014/main" val="1469125409"/>
                  </a:ext>
                </a:extLst>
              </a:tr>
              <a:tr h="359205">
                <a:tc>
                  <a:txBody>
                    <a:bodyPr/>
                    <a:lstStyle/>
                    <a:p>
                      <a:r>
                        <a:rPr lang="en-GB" dirty="0"/>
                        <a:t>Unique Viewers</a:t>
                      </a:r>
                      <a:endParaRPr lang="en-ZA" dirty="0"/>
                    </a:p>
                  </a:txBody>
                  <a:tcPr/>
                </a:tc>
                <a:tc>
                  <a:txBody>
                    <a:bodyPr/>
                    <a:lstStyle/>
                    <a:p>
                      <a:r>
                        <a:rPr lang="en-GB" dirty="0"/>
                        <a:t>4, 386</a:t>
                      </a:r>
                      <a:endParaRPr lang="en-ZA" dirty="0"/>
                    </a:p>
                  </a:txBody>
                  <a:tcPr/>
                </a:tc>
                <a:extLst>
                  <a:ext uri="{0D108BD9-81ED-4DB2-BD59-A6C34878D82A}">
                    <a16:rowId xmlns:a16="http://schemas.microsoft.com/office/drawing/2014/main" val="2284957426"/>
                  </a:ext>
                </a:extLst>
              </a:tr>
              <a:tr h="359205">
                <a:tc>
                  <a:txBody>
                    <a:bodyPr/>
                    <a:lstStyle/>
                    <a:p>
                      <a:r>
                        <a:rPr lang="en-GB" dirty="0"/>
                        <a:t>Channels Tracked</a:t>
                      </a:r>
                      <a:endParaRPr lang="en-ZA" dirty="0"/>
                    </a:p>
                  </a:txBody>
                  <a:tcPr/>
                </a:tc>
                <a:tc>
                  <a:txBody>
                    <a:bodyPr/>
                    <a:lstStyle/>
                    <a:p>
                      <a:r>
                        <a:rPr lang="en-GB" dirty="0"/>
                        <a:t>21</a:t>
                      </a:r>
                      <a:endParaRPr lang="en-ZA" dirty="0"/>
                    </a:p>
                  </a:txBody>
                  <a:tcPr/>
                </a:tc>
                <a:extLst>
                  <a:ext uri="{0D108BD9-81ED-4DB2-BD59-A6C34878D82A}">
                    <a16:rowId xmlns:a16="http://schemas.microsoft.com/office/drawing/2014/main" val="968784988"/>
                  </a:ext>
                </a:extLst>
              </a:tr>
              <a:tr h="359205">
                <a:tc>
                  <a:txBody>
                    <a:bodyPr/>
                    <a:lstStyle/>
                    <a:p>
                      <a:r>
                        <a:rPr lang="en-GB" dirty="0"/>
                        <a:t>Top Channel</a:t>
                      </a:r>
                      <a:endParaRPr lang="en-ZA" dirty="0"/>
                    </a:p>
                  </a:txBody>
                  <a:tcPr/>
                </a:tc>
                <a:tc>
                  <a:txBody>
                    <a:bodyPr/>
                    <a:lstStyle/>
                    <a:p>
                      <a:r>
                        <a:rPr lang="en-ZA" dirty="0" err="1"/>
                        <a:t>Supersport</a:t>
                      </a:r>
                      <a:r>
                        <a:rPr lang="en-ZA" dirty="0"/>
                        <a:t> Live Events</a:t>
                      </a:r>
                    </a:p>
                  </a:txBody>
                  <a:tcPr/>
                </a:tc>
                <a:extLst>
                  <a:ext uri="{0D108BD9-81ED-4DB2-BD59-A6C34878D82A}">
                    <a16:rowId xmlns:a16="http://schemas.microsoft.com/office/drawing/2014/main" val="1804740146"/>
                  </a:ext>
                </a:extLst>
              </a:tr>
              <a:tr h="359205">
                <a:tc>
                  <a:txBody>
                    <a:bodyPr/>
                    <a:lstStyle/>
                    <a:p>
                      <a:r>
                        <a:rPr lang="en-GB" dirty="0"/>
                        <a:t>Data Range</a:t>
                      </a:r>
                      <a:endParaRPr lang="en-ZA" dirty="0"/>
                    </a:p>
                  </a:txBody>
                  <a:tcPr/>
                </a:tc>
                <a:tc>
                  <a:txBody>
                    <a:bodyPr/>
                    <a:lstStyle/>
                    <a:p>
                      <a:r>
                        <a:rPr lang="en-GB" dirty="0"/>
                        <a:t>2016/01/01-20216-04-01</a:t>
                      </a:r>
                      <a:endParaRPr lang="en-ZA" dirty="0"/>
                    </a:p>
                  </a:txBody>
                  <a:tcPr/>
                </a:tc>
                <a:extLst>
                  <a:ext uri="{0D108BD9-81ED-4DB2-BD59-A6C34878D82A}">
                    <a16:rowId xmlns:a16="http://schemas.microsoft.com/office/drawing/2014/main" val="138990085"/>
                  </a:ext>
                </a:extLst>
              </a:tr>
            </a:tbl>
          </a:graphicData>
        </a:graphic>
      </p:graphicFrame>
    </p:spTree>
    <p:extLst>
      <p:ext uri="{BB962C8B-B14F-4D97-AF65-F5344CB8AC3E}">
        <p14:creationId xmlns:p14="http://schemas.microsoft.com/office/powerpoint/2010/main" val="308549259"/>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FA0F58E-E688-7058-DCFB-0683D45B1F0E}"/>
              </a:ext>
            </a:extLst>
          </p:cNvPr>
          <p:cNvGraphicFramePr>
            <a:graphicFrameLocks noGrp="1"/>
          </p:cNvGraphicFramePr>
          <p:nvPr>
            <p:extLst>
              <p:ext uri="{D42A27DB-BD31-4B8C-83A1-F6EECF244321}">
                <p14:modId xmlns:p14="http://schemas.microsoft.com/office/powerpoint/2010/main" val="3964083224"/>
              </p:ext>
            </p:extLst>
          </p:nvPr>
        </p:nvGraphicFramePr>
        <p:xfrm>
          <a:off x="1076632" y="719666"/>
          <a:ext cx="9083368" cy="5518899"/>
        </p:xfrm>
        <a:graphic>
          <a:graphicData uri="http://schemas.openxmlformats.org/drawingml/2006/table">
            <a:tbl>
              <a:tblPr firstRow="1" bandRow="1">
                <a:tableStyleId>{073A0DAA-6AF3-43AB-8588-CEC1D06C72B9}</a:tableStyleId>
              </a:tblPr>
              <a:tblGrid>
                <a:gridCol w="2094271">
                  <a:extLst>
                    <a:ext uri="{9D8B030D-6E8A-4147-A177-3AD203B41FA5}">
                      <a16:colId xmlns:a16="http://schemas.microsoft.com/office/drawing/2014/main" val="2162148817"/>
                    </a:ext>
                  </a:extLst>
                </a:gridCol>
                <a:gridCol w="6989097">
                  <a:extLst>
                    <a:ext uri="{9D8B030D-6E8A-4147-A177-3AD203B41FA5}">
                      <a16:colId xmlns:a16="http://schemas.microsoft.com/office/drawing/2014/main" val="2427324400"/>
                    </a:ext>
                  </a:extLst>
                </a:gridCol>
              </a:tblGrid>
              <a:tr h="613211">
                <a:tc>
                  <a:txBody>
                    <a:bodyPr/>
                    <a:lstStyle/>
                    <a:p>
                      <a:r>
                        <a:rPr lang="en-GB" dirty="0"/>
                        <a:t>Table of content</a:t>
                      </a:r>
                      <a:endParaRPr lang="en-ZA" dirty="0"/>
                    </a:p>
                  </a:txBody>
                  <a:tcPr/>
                </a:tc>
                <a:tc>
                  <a:txBody>
                    <a:bodyPr/>
                    <a:lstStyle/>
                    <a:p>
                      <a:endParaRPr lang="en-ZA" dirty="0"/>
                    </a:p>
                  </a:txBody>
                  <a:tcPr/>
                </a:tc>
                <a:extLst>
                  <a:ext uri="{0D108BD9-81ED-4DB2-BD59-A6C34878D82A}">
                    <a16:rowId xmlns:a16="http://schemas.microsoft.com/office/drawing/2014/main" val="3212833125"/>
                  </a:ext>
                </a:extLst>
              </a:tr>
              <a:tr h="613211">
                <a:tc>
                  <a:txBody>
                    <a:bodyPr/>
                    <a:lstStyle/>
                    <a:p>
                      <a:r>
                        <a:rPr lang="en-GB" dirty="0"/>
                        <a:t>Page 3</a:t>
                      </a:r>
                      <a:endParaRPr lang="en-ZA" dirty="0"/>
                    </a:p>
                  </a:txBody>
                  <a:tcPr/>
                </a:tc>
                <a:tc>
                  <a:txBody>
                    <a:bodyPr/>
                    <a:lstStyle/>
                    <a:p>
                      <a:r>
                        <a:rPr lang="en-GB" dirty="0"/>
                        <a:t>Viewers by Channel</a:t>
                      </a:r>
                      <a:endParaRPr lang="en-ZA" dirty="0"/>
                    </a:p>
                  </a:txBody>
                  <a:tcPr/>
                </a:tc>
                <a:extLst>
                  <a:ext uri="{0D108BD9-81ED-4DB2-BD59-A6C34878D82A}">
                    <a16:rowId xmlns:a16="http://schemas.microsoft.com/office/drawing/2014/main" val="1326773761"/>
                  </a:ext>
                </a:extLst>
              </a:tr>
              <a:tr h="613211">
                <a:tc>
                  <a:txBody>
                    <a:bodyPr/>
                    <a:lstStyle/>
                    <a:p>
                      <a:r>
                        <a:rPr lang="en-GB" dirty="0"/>
                        <a:t>Page 4</a:t>
                      </a:r>
                      <a:endParaRPr lang="en-ZA" dirty="0"/>
                    </a:p>
                  </a:txBody>
                  <a:tcPr/>
                </a:tc>
                <a:tc>
                  <a:txBody>
                    <a:bodyPr/>
                    <a:lstStyle/>
                    <a:p>
                      <a:r>
                        <a:rPr lang="en-GB" dirty="0"/>
                        <a:t>Daily viewership trend</a:t>
                      </a:r>
                      <a:endParaRPr lang="en-ZA" dirty="0"/>
                    </a:p>
                  </a:txBody>
                  <a:tcPr/>
                </a:tc>
                <a:extLst>
                  <a:ext uri="{0D108BD9-81ED-4DB2-BD59-A6C34878D82A}">
                    <a16:rowId xmlns:a16="http://schemas.microsoft.com/office/drawing/2014/main" val="3656316365"/>
                  </a:ext>
                </a:extLst>
              </a:tr>
              <a:tr h="613211">
                <a:tc>
                  <a:txBody>
                    <a:bodyPr/>
                    <a:lstStyle/>
                    <a:p>
                      <a:r>
                        <a:rPr lang="en-GB" dirty="0"/>
                        <a:t>Page 5</a:t>
                      </a:r>
                      <a:endParaRPr lang="en-ZA" dirty="0"/>
                    </a:p>
                  </a:txBody>
                  <a:tcPr/>
                </a:tc>
                <a:tc>
                  <a:txBody>
                    <a:bodyPr/>
                    <a:lstStyle/>
                    <a:p>
                      <a:r>
                        <a:rPr lang="en-GB" dirty="0"/>
                        <a:t>Viewership by race</a:t>
                      </a:r>
                      <a:endParaRPr lang="en-ZA" dirty="0"/>
                    </a:p>
                  </a:txBody>
                  <a:tcPr/>
                </a:tc>
                <a:extLst>
                  <a:ext uri="{0D108BD9-81ED-4DB2-BD59-A6C34878D82A}">
                    <a16:rowId xmlns:a16="http://schemas.microsoft.com/office/drawing/2014/main" val="671643060"/>
                  </a:ext>
                </a:extLst>
              </a:tr>
              <a:tr h="613211">
                <a:tc>
                  <a:txBody>
                    <a:bodyPr/>
                    <a:lstStyle/>
                    <a:p>
                      <a:r>
                        <a:rPr lang="en-GB" dirty="0"/>
                        <a:t>Page 6</a:t>
                      </a:r>
                      <a:endParaRPr lang="en-ZA" dirty="0"/>
                    </a:p>
                  </a:txBody>
                  <a:tcPr/>
                </a:tc>
                <a:tc>
                  <a:txBody>
                    <a:bodyPr/>
                    <a:lstStyle/>
                    <a:p>
                      <a:r>
                        <a:rPr lang="en-GB" dirty="0"/>
                        <a:t>Viewership by Province</a:t>
                      </a:r>
                      <a:endParaRPr lang="en-ZA" dirty="0"/>
                    </a:p>
                  </a:txBody>
                  <a:tcPr/>
                </a:tc>
                <a:extLst>
                  <a:ext uri="{0D108BD9-81ED-4DB2-BD59-A6C34878D82A}">
                    <a16:rowId xmlns:a16="http://schemas.microsoft.com/office/drawing/2014/main" val="2799799944"/>
                  </a:ext>
                </a:extLst>
              </a:tr>
              <a:tr h="613211">
                <a:tc>
                  <a:txBody>
                    <a:bodyPr/>
                    <a:lstStyle/>
                    <a:p>
                      <a:r>
                        <a:rPr lang="en-GB" dirty="0"/>
                        <a:t>Page 7</a:t>
                      </a:r>
                      <a:endParaRPr lang="en-ZA" dirty="0"/>
                    </a:p>
                  </a:txBody>
                  <a:tcPr/>
                </a:tc>
                <a:tc>
                  <a:txBody>
                    <a:bodyPr/>
                    <a:lstStyle/>
                    <a:p>
                      <a:r>
                        <a:rPr lang="en-GB" dirty="0"/>
                        <a:t>Viewership by time intervals</a:t>
                      </a:r>
                      <a:endParaRPr lang="en-ZA" dirty="0"/>
                    </a:p>
                  </a:txBody>
                  <a:tcPr/>
                </a:tc>
                <a:extLst>
                  <a:ext uri="{0D108BD9-81ED-4DB2-BD59-A6C34878D82A}">
                    <a16:rowId xmlns:a16="http://schemas.microsoft.com/office/drawing/2014/main" val="403816089"/>
                  </a:ext>
                </a:extLst>
              </a:tr>
              <a:tr h="613211">
                <a:tc>
                  <a:txBody>
                    <a:bodyPr/>
                    <a:lstStyle/>
                    <a:p>
                      <a:r>
                        <a:rPr lang="en-GB" dirty="0"/>
                        <a:t>Page 8</a:t>
                      </a:r>
                      <a:endParaRPr lang="en-ZA" dirty="0"/>
                    </a:p>
                  </a:txBody>
                  <a:tcPr/>
                </a:tc>
                <a:tc>
                  <a:txBody>
                    <a:bodyPr/>
                    <a:lstStyle/>
                    <a:p>
                      <a:r>
                        <a:rPr lang="en-GB" dirty="0"/>
                        <a:t>Viewership by the days of the week</a:t>
                      </a:r>
                      <a:endParaRPr lang="en-ZA" dirty="0"/>
                    </a:p>
                  </a:txBody>
                  <a:tcPr/>
                </a:tc>
                <a:extLst>
                  <a:ext uri="{0D108BD9-81ED-4DB2-BD59-A6C34878D82A}">
                    <a16:rowId xmlns:a16="http://schemas.microsoft.com/office/drawing/2014/main" val="1295967377"/>
                  </a:ext>
                </a:extLst>
              </a:tr>
              <a:tr h="613211">
                <a:tc>
                  <a:txBody>
                    <a:bodyPr/>
                    <a:lstStyle/>
                    <a:p>
                      <a:r>
                        <a:rPr lang="en-GB" dirty="0"/>
                        <a:t>Page 9</a:t>
                      </a:r>
                      <a:endParaRPr lang="en-ZA" dirty="0"/>
                    </a:p>
                  </a:txBody>
                  <a:tcPr/>
                </a:tc>
                <a:tc>
                  <a:txBody>
                    <a:bodyPr/>
                    <a:lstStyle/>
                    <a:p>
                      <a:r>
                        <a:rPr lang="en-GB" dirty="0"/>
                        <a:t>Viewership by  Age Basket</a:t>
                      </a:r>
                      <a:endParaRPr lang="en-ZA" dirty="0"/>
                    </a:p>
                  </a:txBody>
                  <a:tcPr/>
                </a:tc>
                <a:extLst>
                  <a:ext uri="{0D108BD9-81ED-4DB2-BD59-A6C34878D82A}">
                    <a16:rowId xmlns:a16="http://schemas.microsoft.com/office/drawing/2014/main" val="2913496360"/>
                  </a:ext>
                </a:extLst>
              </a:tr>
              <a:tr h="613211">
                <a:tc>
                  <a:txBody>
                    <a:bodyPr/>
                    <a:lstStyle/>
                    <a:p>
                      <a:r>
                        <a:rPr lang="en-GB" dirty="0"/>
                        <a:t>Page 10</a:t>
                      </a:r>
                      <a:endParaRPr lang="en-ZA" dirty="0"/>
                    </a:p>
                  </a:txBody>
                  <a:tcPr/>
                </a:tc>
                <a:tc>
                  <a:txBody>
                    <a:bodyPr/>
                    <a:lstStyle/>
                    <a:p>
                      <a:r>
                        <a:rPr lang="en-GB"/>
                        <a:t>Recommendations</a:t>
                      </a:r>
                      <a:endParaRPr lang="en-ZA" dirty="0"/>
                    </a:p>
                  </a:txBody>
                  <a:tcPr/>
                </a:tc>
                <a:extLst>
                  <a:ext uri="{0D108BD9-81ED-4DB2-BD59-A6C34878D82A}">
                    <a16:rowId xmlns:a16="http://schemas.microsoft.com/office/drawing/2014/main" val="1795834174"/>
                  </a:ext>
                </a:extLst>
              </a:tr>
            </a:tbl>
          </a:graphicData>
        </a:graphic>
      </p:graphicFrame>
    </p:spTree>
    <p:extLst>
      <p:ext uri="{BB962C8B-B14F-4D97-AF65-F5344CB8AC3E}">
        <p14:creationId xmlns:p14="http://schemas.microsoft.com/office/powerpoint/2010/main" val="118716914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A00A-579C-D06B-83D0-DF5C352DB5A7}"/>
              </a:ext>
            </a:extLst>
          </p:cNvPr>
          <p:cNvSpPr>
            <a:spLocks noGrp="1"/>
          </p:cNvSpPr>
          <p:nvPr>
            <p:ph type="title"/>
          </p:nvPr>
        </p:nvSpPr>
        <p:spPr/>
        <p:txBody>
          <a:bodyPr/>
          <a:lstStyle/>
          <a:p>
            <a:r>
              <a:rPr lang="en-GB" b="1" dirty="0"/>
              <a:t>                  1.Viewer By Channels</a:t>
            </a:r>
            <a:endParaRPr lang="en-ZA" b="1" dirty="0"/>
          </a:p>
        </p:txBody>
      </p:sp>
      <p:sp>
        <p:nvSpPr>
          <p:cNvPr id="3" name="Content Placeholder 2">
            <a:extLst>
              <a:ext uri="{FF2B5EF4-FFF2-40B4-BE49-F238E27FC236}">
                <a16:creationId xmlns:a16="http://schemas.microsoft.com/office/drawing/2014/main" id="{AF0E8450-1537-5370-E668-D473C9EF028E}"/>
              </a:ext>
            </a:extLst>
          </p:cNvPr>
          <p:cNvSpPr>
            <a:spLocks noGrp="1"/>
          </p:cNvSpPr>
          <p:nvPr>
            <p:ph idx="1"/>
          </p:nvPr>
        </p:nvSpPr>
        <p:spPr>
          <a:xfrm>
            <a:off x="-152400" y="1061884"/>
            <a:ext cx="12344400" cy="5343398"/>
          </a:xfrm>
        </p:spPr>
        <p:txBody>
          <a:bodyPr/>
          <a:lstStyle/>
          <a:p>
            <a:r>
              <a:rPr lang="en-GB" dirty="0"/>
              <a:t> Thes diagrams shows views of each channel and we find SuperSport to be the leading channel.</a:t>
            </a:r>
            <a:endParaRPr lang="en-ZA" dirty="0"/>
          </a:p>
        </p:txBody>
      </p:sp>
      <p:graphicFrame>
        <p:nvGraphicFramePr>
          <p:cNvPr id="4" name="Chart 3">
            <a:extLst>
              <a:ext uri="{FF2B5EF4-FFF2-40B4-BE49-F238E27FC236}">
                <a16:creationId xmlns:a16="http://schemas.microsoft.com/office/drawing/2014/main" id="{0AA54634-D78B-4CDB-B46B-B255232A3094}"/>
              </a:ext>
            </a:extLst>
          </p:cNvPr>
          <p:cNvGraphicFramePr>
            <a:graphicFrameLocks/>
          </p:cNvGraphicFramePr>
          <p:nvPr>
            <p:extLst>
              <p:ext uri="{D42A27DB-BD31-4B8C-83A1-F6EECF244321}">
                <p14:modId xmlns:p14="http://schemas.microsoft.com/office/powerpoint/2010/main" val="2383975891"/>
              </p:ext>
            </p:extLst>
          </p:nvPr>
        </p:nvGraphicFramePr>
        <p:xfrm>
          <a:off x="16524" y="1514603"/>
          <a:ext cx="6079476" cy="534339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BF507119-7A9C-45C5-A4F7-FF17BBB74679}"/>
              </a:ext>
            </a:extLst>
          </p:cNvPr>
          <p:cNvGraphicFramePr>
            <a:graphicFrameLocks/>
          </p:cNvGraphicFramePr>
          <p:nvPr>
            <p:extLst>
              <p:ext uri="{D42A27DB-BD31-4B8C-83A1-F6EECF244321}">
                <p14:modId xmlns:p14="http://schemas.microsoft.com/office/powerpoint/2010/main" val="194427082"/>
              </p:ext>
            </p:extLst>
          </p:nvPr>
        </p:nvGraphicFramePr>
        <p:xfrm>
          <a:off x="6096000" y="1514603"/>
          <a:ext cx="5923935" cy="534339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04204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ZA"/>
          </a:p>
        </p:txBody>
      </p:sp>
      <p:sp useBgFill="1">
        <p:nvSpPr>
          <p:cNvPr id="21" name="Rectangle 20">
            <a:extLst>
              <a:ext uri="{FF2B5EF4-FFF2-40B4-BE49-F238E27FC236}">
                <a16:creationId xmlns:a16="http://schemas.microsoft.com/office/drawing/2014/main" id="{D27CF008-4B18-436D-B2D5-C1346C124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E22DAD8-5F67-4B73-ADA9-06EF381F7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5"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
        <p:nvSpPr>
          <p:cNvPr id="27" name="Freeform: Shape 26">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227232-00A2-1664-6E45-D9399745DD6A}"/>
              </a:ext>
            </a:extLst>
          </p:cNvPr>
          <p:cNvSpPr>
            <a:spLocks noGrp="1"/>
          </p:cNvSpPr>
          <p:nvPr>
            <p:ph type="title"/>
          </p:nvPr>
        </p:nvSpPr>
        <p:spPr>
          <a:xfrm>
            <a:off x="636916" y="4854346"/>
            <a:ext cx="9149350" cy="868026"/>
          </a:xfrm>
        </p:spPr>
        <p:txBody>
          <a:bodyPr vert="horz" lIns="91440" tIns="45720" rIns="91440" bIns="45720" rtlCol="0" anchor="b">
            <a:normAutofit/>
          </a:bodyPr>
          <a:lstStyle/>
          <a:p>
            <a:r>
              <a:rPr lang="en-US" sz="4800" b="0" i="0" kern="1200">
                <a:solidFill>
                  <a:srgbClr val="EBEBEB"/>
                </a:solidFill>
                <a:latin typeface="+mj-lt"/>
                <a:ea typeface="+mj-ea"/>
                <a:cs typeface="+mj-cs"/>
              </a:rPr>
              <a:t>                    </a:t>
            </a:r>
          </a:p>
        </p:txBody>
      </p:sp>
      <p:sp>
        <p:nvSpPr>
          <p:cNvPr id="3" name="Content Placeholder 2">
            <a:extLst>
              <a:ext uri="{FF2B5EF4-FFF2-40B4-BE49-F238E27FC236}">
                <a16:creationId xmlns:a16="http://schemas.microsoft.com/office/drawing/2014/main" id="{2CD0ABFE-80F8-4F81-C7C2-B7E8071DDFF6}"/>
              </a:ext>
            </a:extLst>
          </p:cNvPr>
          <p:cNvSpPr>
            <a:spLocks noGrp="1"/>
          </p:cNvSpPr>
          <p:nvPr>
            <p:ph idx="1"/>
          </p:nvPr>
        </p:nvSpPr>
        <p:spPr>
          <a:xfrm>
            <a:off x="636916" y="5722374"/>
            <a:ext cx="9149349" cy="487924"/>
          </a:xfrm>
        </p:spPr>
        <p:txBody>
          <a:bodyPr vert="horz" lIns="91440" tIns="45720" rIns="91440" bIns="45720" rtlCol="0" anchor="t">
            <a:normAutofit/>
          </a:bodyPr>
          <a:lstStyle/>
          <a:p>
            <a:pPr marL="0" indent="0">
              <a:lnSpc>
                <a:spcPct val="90000"/>
              </a:lnSpc>
              <a:buNone/>
            </a:pPr>
            <a:r>
              <a:rPr lang="en-US" sz="1400" cap="all">
                <a:solidFill>
                  <a:schemeClr val="tx2">
                    <a:lumMod val="40000"/>
                    <a:lumOff val="60000"/>
                  </a:schemeClr>
                </a:solidFill>
              </a:rPr>
              <a:t>Daily viewership across 91 days period (January-March 2016) showing daily volume.</a:t>
            </a:r>
          </a:p>
        </p:txBody>
      </p:sp>
      <p:graphicFrame>
        <p:nvGraphicFramePr>
          <p:cNvPr id="4" name="Chart 3">
            <a:extLst>
              <a:ext uri="{FF2B5EF4-FFF2-40B4-BE49-F238E27FC236}">
                <a16:creationId xmlns:a16="http://schemas.microsoft.com/office/drawing/2014/main" id="{3E7BDB00-09D3-4721-95D0-B36B9D5654F3}"/>
              </a:ext>
            </a:extLst>
          </p:cNvPr>
          <p:cNvGraphicFramePr>
            <a:graphicFrameLocks/>
          </p:cNvGraphicFramePr>
          <p:nvPr>
            <p:extLst>
              <p:ext uri="{D42A27DB-BD31-4B8C-83A1-F6EECF244321}">
                <p14:modId xmlns:p14="http://schemas.microsoft.com/office/powerpoint/2010/main" val="1156719543"/>
              </p:ext>
            </p:extLst>
          </p:nvPr>
        </p:nvGraphicFramePr>
        <p:xfrm>
          <a:off x="635458" y="640081"/>
          <a:ext cx="9150807" cy="329184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83324083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5" name="Picture 34">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6" name="Oval 3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pic>
        <p:nvPicPr>
          <p:cNvPr id="37" name="Picture 3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8" name="Picture 3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9" name="Rectangle 3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4" name="Title 3">
            <a:extLst>
              <a:ext uri="{FF2B5EF4-FFF2-40B4-BE49-F238E27FC236}">
                <a16:creationId xmlns:a16="http://schemas.microsoft.com/office/drawing/2014/main" id="{A758518E-DDBD-222C-0BA5-3EA7715D1F5D}"/>
              </a:ext>
            </a:extLst>
          </p:cNvPr>
          <p:cNvSpPr>
            <a:spLocks noGrp="1"/>
          </p:cNvSpPr>
          <p:nvPr>
            <p:ph type="title"/>
          </p:nvPr>
        </p:nvSpPr>
        <p:spPr>
          <a:xfrm>
            <a:off x="6683829" y="1447800"/>
            <a:ext cx="4397828" cy="3329581"/>
          </a:xfrm>
        </p:spPr>
        <p:txBody>
          <a:bodyPr vert="horz" lIns="91440" tIns="45720" rIns="91440" bIns="45720" rtlCol="0" anchor="b">
            <a:normAutofit/>
          </a:bodyPr>
          <a:lstStyle/>
          <a:p>
            <a:r>
              <a:rPr lang="en-US" sz="6000" b="0" i="0" kern="1200">
                <a:solidFill>
                  <a:schemeClr val="tx2"/>
                </a:solidFill>
                <a:latin typeface="+mj-lt"/>
                <a:ea typeface="+mj-ea"/>
                <a:cs typeface="+mj-cs"/>
              </a:rPr>
              <a:t>               Viewership by Race</a:t>
            </a:r>
          </a:p>
        </p:txBody>
      </p:sp>
      <p:sp>
        <p:nvSpPr>
          <p:cNvPr id="8" name="Content Placeholder 7">
            <a:extLst>
              <a:ext uri="{FF2B5EF4-FFF2-40B4-BE49-F238E27FC236}">
                <a16:creationId xmlns:a16="http://schemas.microsoft.com/office/drawing/2014/main" id="{45020419-F7F3-6A93-CCFE-4A06CF1FDE7F}"/>
              </a:ext>
            </a:extLst>
          </p:cNvPr>
          <p:cNvSpPr>
            <a:spLocks noGrp="1"/>
          </p:cNvSpPr>
          <p:nvPr>
            <p:ph idx="1"/>
          </p:nvPr>
        </p:nvSpPr>
        <p:spPr>
          <a:xfrm>
            <a:off x="6683829" y="4777380"/>
            <a:ext cx="4397828" cy="861420"/>
          </a:xfrm>
        </p:spPr>
        <p:txBody>
          <a:bodyPr vert="horz" lIns="91440" tIns="45720" rIns="91440" bIns="45720" rtlCol="0" anchor="t">
            <a:normAutofit/>
          </a:bodyPr>
          <a:lstStyle/>
          <a:p>
            <a:pPr marL="0" indent="0">
              <a:lnSpc>
                <a:spcPct val="90000"/>
              </a:lnSpc>
              <a:buNone/>
            </a:pPr>
            <a:r>
              <a:rPr lang="en-US" sz="1700" cap="all">
                <a:solidFill>
                  <a:schemeClr val="bg2">
                    <a:lumMod val="40000"/>
                    <a:lumOff val="60000"/>
                  </a:schemeClr>
                </a:solidFill>
              </a:rPr>
              <a:t>We see that Black race are the most viewers and other race has the lowest viewerships. </a:t>
            </a:r>
          </a:p>
        </p:txBody>
      </p:sp>
      <p:graphicFrame>
        <p:nvGraphicFramePr>
          <p:cNvPr id="9" name="Content Placeholder 5">
            <a:extLst>
              <a:ext uri="{FF2B5EF4-FFF2-40B4-BE49-F238E27FC236}">
                <a16:creationId xmlns:a16="http://schemas.microsoft.com/office/drawing/2014/main" id="{667363F4-3AEA-BD02-C491-C5DB403F1E47}"/>
              </a:ext>
            </a:extLst>
          </p:cNvPr>
          <p:cNvGraphicFramePr>
            <a:graphicFrameLocks/>
          </p:cNvGraphicFramePr>
          <p:nvPr>
            <p:extLst>
              <p:ext uri="{D42A27DB-BD31-4B8C-83A1-F6EECF244321}">
                <p14:modId xmlns:p14="http://schemas.microsoft.com/office/powerpoint/2010/main" val="2023144822"/>
              </p:ext>
            </p:extLst>
          </p:nvPr>
        </p:nvGraphicFramePr>
        <p:xfrm>
          <a:off x="643854" y="647698"/>
          <a:ext cx="5450557" cy="5562139"/>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690940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8309B-0BE6-89D0-A296-5F294A7ED6EC}"/>
              </a:ext>
            </a:extLst>
          </p:cNvPr>
          <p:cNvSpPr>
            <a:spLocks noGrp="1"/>
          </p:cNvSpPr>
          <p:nvPr>
            <p:ph type="title"/>
          </p:nvPr>
        </p:nvSpPr>
        <p:spPr>
          <a:xfrm>
            <a:off x="1103312" y="452718"/>
            <a:ext cx="8947522" cy="697656"/>
          </a:xfrm>
        </p:spPr>
        <p:txBody>
          <a:bodyPr/>
          <a:lstStyle/>
          <a:p>
            <a:r>
              <a:rPr lang="en-GB" dirty="0"/>
              <a:t>             </a:t>
            </a:r>
            <a:r>
              <a:rPr lang="en-GB" b="1" dirty="0">
                <a:latin typeface="Aptos ExtraBold" panose="020F0502020204030204" pitchFamily="34" charset="0"/>
              </a:rPr>
              <a:t>Analysis by Provinces</a:t>
            </a:r>
            <a:endParaRPr lang="en-ZA" dirty="0"/>
          </a:p>
        </p:txBody>
      </p:sp>
      <p:sp>
        <p:nvSpPr>
          <p:cNvPr id="3" name="Content Placeholder 2">
            <a:extLst>
              <a:ext uri="{FF2B5EF4-FFF2-40B4-BE49-F238E27FC236}">
                <a16:creationId xmlns:a16="http://schemas.microsoft.com/office/drawing/2014/main" id="{BBFD883B-76F1-6FD2-5008-71661B8BDF73}"/>
              </a:ext>
            </a:extLst>
          </p:cNvPr>
          <p:cNvSpPr>
            <a:spLocks noGrp="1"/>
          </p:cNvSpPr>
          <p:nvPr>
            <p:ph idx="1"/>
          </p:nvPr>
        </p:nvSpPr>
        <p:spPr>
          <a:xfrm>
            <a:off x="162232" y="1150374"/>
            <a:ext cx="12255910" cy="5098025"/>
          </a:xfrm>
        </p:spPr>
        <p:txBody>
          <a:bodyPr/>
          <a:lstStyle/>
          <a:p>
            <a:r>
              <a:rPr lang="en-GB" dirty="0"/>
              <a:t>Analysis shows that Gauteng province has the highest viewers and Northen Cape has lowest viewers.</a:t>
            </a:r>
            <a:endParaRPr lang="en-ZA" dirty="0"/>
          </a:p>
        </p:txBody>
      </p:sp>
      <p:graphicFrame>
        <p:nvGraphicFramePr>
          <p:cNvPr id="4" name="Chart 3">
            <a:extLst>
              <a:ext uri="{FF2B5EF4-FFF2-40B4-BE49-F238E27FC236}">
                <a16:creationId xmlns:a16="http://schemas.microsoft.com/office/drawing/2014/main" id="{A40385DA-FE2D-4B62-81F7-A2AA003D7194}"/>
              </a:ext>
            </a:extLst>
          </p:cNvPr>
          <p:cNvGraphicFramePr>
            <a:graphicFrameLocks/>
          </p:cNvGraphicFramePr>
          <p:nvPr>
            <p:extLst>
              <p:ext uri="{D42A27DB-BD31-4B8C-83A1-F6EECF244321}">
                <p14:modId xmlns:p14="http://schemas.microsoft.com/office/powerpoint/2010/main" val="4219018973"/>
              </p:ext>
            </p:extLst>
          </p:nvPr>
        </p:nvGraphicFramePr>
        <p:xfrm>
          <a:off x="162232" y="1759975"/>
          <a:ext cx="5129296" cy="50980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BA190E5D-A5C0-4477-92BC-6332E65ADBA1}"/>
              </a:ext>
            </a:extLst>
          </p:cNvPr>
          <p:cNvGraphicFramePr>
            <a:graphicFrameLocks/>
          </p:cNvGraphicFramePr>
          <p:nvPr>
            <p:extLst>
              <p:ext uri="{D42A27DB-BD31-4B8C-83A1-F6EECF244321}">
                <p14:modId xmlns:p14="http://schemas.microsoft.com/office/powerpoint/2010/main" val="321927764"/>
              </p:ext>
            </p:extLst>
          </p:nvPr>
        </p:nvGraphicFramePr>
        <p:xfrm>
          <a:off x="5928851" y="1848030"/>
          <a:ext cx="6185377" cy="48477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45157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80463-F41F-3000-5835-D23A7F6F86AA}"/>
              </a:ext>
            </a:extLst>
          </p:cNvPr>
          <p:cNvSpPr>
            <a:spLocks noGrp="1"/>
          </p:cNvSpPr>
          <p:nvPr>
            <p:ph type="title"/>
          </p:nvPr>
        </p:nvSpPr>
        <p:spPr/>
        <p:txBody>
          <a:bodyPr/>
          <a:lstStyle/>
          <a:p>
            <a:r>
              <a:rPr lang="en-GB" dirty="0"/>
              <a:t>       </a:t>
            </a:r>
            <a:r>
              <a:rPr lang="en-GB" b="1" dirty="0">
                <a:latin typeface="Aptos Display" panose="020B0004020202020204" pitchFamily="34" charset="0"/>
              </a:rPr>
              <a:t>Time intervals by viewership analysis</a:t>
            </a:r>
            <a:endParaRPr lang="en-ZA" dirty="0"/>
          </a:p>
        </p:txBody>
      </p:sp>
      <p:sp>
        <p:nvSpPr>
          <p:cNvPr id="3" name="Content Placeholder 2">
            <a:extLst>
              <a:ext uri="{FF2B5EF4-FFF2-40B4-BE49-F238E27FC236}">
                <a16:creationId xmlns:a16="http://schemas.microsoft.com/office/drawing/2014/main" id="{E9B03404-6EB9-11E0-C593-6E29071A0341}"/>
              </a:ext>
            </a:extLst>
          </p:cNvPr>
          <p:cNvSpPr>
            <a:spLocks noGrp="1"/>
          </p:cNvSpPr>
          <p:nvPr>
            <p:ph idx="1"/>
          </p:nvPr>
        </p:nvSpPr>
        <p:spPr>
          <a:xfrm>
            <a:off x="0" y="1853248"/>
            <a:ext cx="12037102" cy="4871803"/>
          </a:xfrm>
        </p:spPr>
        <p:txBody>
          <a:bodyPr/>
          <a:lstStyle/>
          <a:p>
            <a:r>
              <a:rPr lang="en-GB" dirty="0"/>
              <a:t>Afternoon has the highest viewers of 19% and interval that has lowest viewers its early morning of 11%.</a:t>
            </a:r>
            <a:endParaRPr lang="en-ZA" dirty="0"/>
          </a:p>
        </p:txBody>
      </p:sp>
      <p:graphicFrame>
        <p:nvGraphicFramePr>
          <p:cNvPr id="4" name="Chart 3">
            <a:extLst>
              <a:ext uri="{FF2B5EF4-FFF2-40B4-BE49-F238E27FC236}">
                <a16:creationId xmlns:a16="http://schemas.microsoft.com/office/drawing/2014/main" id="{9AE1EA10-ADB1-4BD4-AE8C-7801FE192B7F}"/>
              </a:ext>
            </a:extLst>
          </p:cNvPr>
          <p:cNvGraphicFramePr>
            <a:graphicFrameLocks/>
          </p:cNvGraphicFramePr>
          <p:nvPr>
            <p:extLst>
              <p:ext uri="{D42A27DB-BD31-4B8C-83A1-F6EECF244321}">
                <p14:modId xmlns:p14="http://schemas.microsoft.com/office/powerpoint/2010/main" val="1383342214"/>
              </p:ext>
            </p:extLst>
          </p:nvPr>
        </p:nvGraphicFramePr>
        <p:xfrm>
          <a:off x="1" y="2683239"/>
          <a:ext cx="4706910" cy="40418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3974ABE6-0F65-4FF5-B32B-6D34763D45D3}"/>
              </a:ext>
            </a:extLst>
          </p:cNvPr>
          <p:cNvGraphicFramePr>
            <a:graphicFrameLocks/>
          </p:cNvGraphicFramePr>
          <p:nvPr>
            <p:extLst>
              <p:ext uri="{D42A27DB-BD31-4B8C-83A1-F6EECF244321}">
                <p14:modId xmlns:p14="http://schemas.microsoft.com/office/powerpoint/2010/main" val="1587491479"/>
              </p:ext>
            </p:extLst>
          </p:nvPr>
        </p:nvGraphicFramePr>
        <p:xfrm>
          <a:off x="4932146" y="2218544"/>
          <a:ext cx="7104955" cy="450650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6090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9953-CAF1-78CF-8E50-091A4714B3B3}"/>
              </a:ext>
            </a:extLst>
          </p:cNvPr>
          <p:cNvSpPr>
            <a:spLocks noGrp="1"/>
          </p:cNvSpPr>
          <p:nvPr>
            <p:ph type="title"/>
          </p:nvPr>
        </p:nvSpPr>
        <p:spPr>
          <a:xfrm>
            <a:off x="1633927" y="0"/>
            <a:ext cx="8416907" cy="1214203"/>
          </a:xfrm>
        </p:spPr>
        <p:txBody>
          <a:bodyPr/>
          <a:lstStyle/>
          <a:p>
            <a:r>
              <a:rPr lang="en-GB" dirty="0">
                <a:latin typeface="Aptos Display" panose="020B0004020202020204" pitchFamily="34" charset="0"/>
              </a:rPr>
              <a:t>    </a:t>
            </a:r>
            <a:r>
              <a:rPr lang="en-GB" b="1" dirty="0">
                <a:latin typeface="Aptos Display" panose="020B0004020202020204" pitchFamily="34" charset="0"/>
              </a:rPr>
              <a:t>Analysis of viewership on days of the week.</a:t>
            </a:r>
            <a:endParaRPr lang="en-ZA" dirty="0">
              <a:latin typeface="Aptos Display" panose="020B0004020202020204" pitchFamily="34" charset="0"/>
            </a:endParaRPr>
          </a:p>
        </p:txBody>
      </p:sp>
      <p:sp>
        <p:nvSpPr>
          <p:cNvPr id="6" name="Content Placeholder 5">
            <a:extLst>
              <a:ext uri="{FF2B5EF4-FFF2-40B4-BE49-F238E27FC236}">
                <a16:creationId xmlns:a16="http://schemas.microsoft.com/office/drawing/2014/main" id="{C2AF2B2C-C9AE-8CB4-418D-DE57B23F917F}"/>
              </a:ext>
            </a:extLst>
          </p:cNvPr>
          <p:cNvSpPr>
            <a:spLocks noGrp="1"/>
          </p:cNvSpPr>
          <p:nvPr>
            <p:ph idx="1"/>
          </p:nvPr>
        </p:nvSpPr>
        <p:spPr>
          <a:xfrm>
            <a:off x="0" y="1214202"/>
            <a:ext cx="12192000" cy="5643797"/>
          </a:xfrm>
        </p:spPr>
        <p:txBody>
          <a:bodyPr/>
          <a:lstStyle/>
          <a:p>
            <a:r>
              <a:rPr lang="en-GB" dirty="0"/>
              <a:t>People most watch or utilise Tv on Saturday and less use it on Monday.</a:t>
            </a:r>
            <a:endParaRPr lang="en-ZA" dirty="0"/>
          </a:p>
        </p:txBody>
      </p:sp>
      <p:graphicFrame>
        <p:nvGraphicFramePr>
          <p:cNvPr id="8" name="Chart 7">
            <a:extLst>
              <a:ext uri="{FF2B5EF4-FFF2-40B4-BE49-F238E27FC236}">
                <a16:creationId xmlns:a16="http://schemas.microsoft.com/office/drawing/2014/main" id="{9EA9E2C5-2B08-417A-B367-960743F83971}"/>
              </a:ext>
            </a:extLst>
          </p:cNvPr>
          <p:cNvGraphicFramePr>
            <a:graphicFrameLocks/>
          </p:cNvGraphicFramePr>
          <p:nvPr>
            <p:extLst>
              <p:ext uri="{D42A27DB-BD31-4B8C-83A1-F6EECF244321}">
                <p14:modId xmlns:p14="http://schemas.microsoft.com/office/powerpoint/2010/main" val="2239241914"/>
              </p:ext>
            </p:extLst>
          </p:nvPr>
        </p:nvGraphicFramePr>
        <p:xfrm>
          <a:off x="0" y="1828800"/>
          <a:ext cx="5191432" cy="48669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DA585E5B-B77E-446B-B1E3-868D0370C64A}"/>
              </a:ext>
            </a:extLst>
          </p:cNvPr>
          <p:cNvGraphicFramePr>
            <a:graphicFrameLocks/>
          </p:cNvGraphicFramePr>
          <p:nvPr>
            <p:extLst>
              <p:ext uri="{D42A27DB-BD31-4B8C-83A1-F6EECF244321}">
                <p14:modId xmlns:p14="http://schemas.microsoft.com/office/powerpoint/2010/main" val="4193373008"/>
              </p:ext>
            </p:extLst>
          </p:nvPr>
        </p:nvGraphicFramePr>
        <p:xfrm>
          <a:off x="5063612" y="1666568"/>
          <a:ext cx="7128388" cy="50291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4077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493B1-BDC2-5447-4F88-75FC0B6A3C22}"/>
              </a:ext>
            </a:extLst>
          </p:cNvPr>
          <p:cNvSpPr>
            <a:spLocks noGrp="1"/>
          </p:cNvSpPr>
          <p:nvPr>
            <p:ph type="title"/>
          </p:nvPr>
        </p:nvSpPr>
        <p:spPr>
          <a:xfrm>
            <a:off x="1237884" y="159776"/>
            <a:ext cx="8811969" cy="710380"/>
          </a:xfrm>
        </p:spPr>
        <p:txBody>
          <a:bodyPr/>
          <a:lstStyle/>
          <a:p>
            <a:r>
              <a:rPr lang="en-GB" b="1" dirty="0">
                <a:latin typeface="Aptos Display" panose="020B0004020202020204" pitchFamily="34" charset="0"/>
              </a:rPr>
              <a:t>             Viewership by Age Basket</a:t>
            </a:r>
            <a:endParaRPr lang="en-ZA" b="1" dirty="0">
              <a:latin typeface="Aptos Display" panose="020B0004020202020204" pitchFamily="34" charset="0"/>
            </a:endParaRPr>
          </a:p>
        </p:txBody>
      </p:sp>
      <p:sp>
        <p:nvSpPr>
          <p:cNvPr id="6" name="Content Placeholder 5">
            <a:extLst>
              <a:ext uri="{FF2B5EF4-FFF2-40B4-BE49-F238E27FC236}">
                <a16:creationId xmlns:a16="http://schemas.microsoft.com/office/drawing/2014/main" id="{8131DB36-6DAD-AD3A-7C1A-D9A4CB4CCE3F}"/>
              </a:ext>
            </a:extLst>
          </p:cNvPr>
          <p:cNvSpPr>
            <a:spLocks noGrp="1"/>
          </p:cNvSpPr>
          <p:nvPr>
            <p:ph idx="1"/>
          </p:nvPr>
        </p:nvSpPr>
        <p:spPr>
          <a:xfrm>
            <a:off x="0" y="766916"/>
            <a:ext cx="12034684" cy="6091084"/>
          </a:xfrm>
        </p:spPr>
        <p:txBody>
          <a:bodyPr/>
          <a:lstStyle/>
          <a:p>
            <a:r>
              <a:rPr lang="en-GB" dirty="0"/>
              <a:t>Age basket of early Adulthood has the highest viewers of 57% and Later childhood by 1%.</a:t>
            </a:r>
            <a:endParaRPr lang="en-ZA" dirty="0"/>
          </a:p>
        </p:txBody>
      </p:sp>
      <p:graphicFrame>
        <p:nvGraphicFramePr>
          <p:cNvPr id="7" name="Content Placeholder 3">
            <a:extLst>
              <a:ext uri="{FF2B5EF4-FFF2-40B4-BE49-F238E27FC236}">
                <a16:creationId xmlns:a16="http://schemas.microsoft.com/office/drawing/2014/main" id="{C90997F1-3C1F-314E-4854-CA607038D7FC}"/>
              </a:ext>
            </a:extLst>
          </p:cNvPr>
          <p:cNvGraphicFramePr>
            <a:graphicFrameLocks/>
          </p:cNvGraphicFramePr>
          <p:nvPr>
            <p:extLst>
              <p:ext uri="{D42A27DB-BD31-4B8C-83A1-F6EECF244321}">
                <p14:modId xmlns:p14="http://schemas.microsoft.com/office/powerpoint/2010/main" val="2848165296"/>
              </p:ext>
            </p:extLst>
          </p:nvPr>
        </p:nvGraphicFramePr>
        <p:xfrm>
          <a:off x="5621310" y="1244184"/>
          <a:ext cx="6413373" cy="56138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3A836AF3-6B01-4EB6-811F-B6A8748CBFF4}"/>
              </a:ext>
            </a:extLst>
          </p:cNvPr>
          <p:cNvGraphicFramePr>
            <a:graphicFrameLocks/>
          </p:cNvGraphicFramePr>
          <p:nvPr>
            <p:extLst>
              <p:ext uri="{D42A27DB-BD31-4B8C-83A1-F6EECF244321}">
                <p14:modId xmlns:p14="http://schemas.microsoft.com/office/powerpoint/2010/main" val="124728287"/>
              </p:ext>
            </p:extLst>
          </p:nvPr>
        </p:nvGraphicFramePr>
        <p:xfrm>
          <a:off x="374754" y="1244184"/>
          <a:ext cx="5066676" cy="572624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41266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9B22E-B8B5-9357-6F06-4FDB8DFCD498}"/>
              </a:ext>
            </a:extLst>
          </p:cNvPr>
          <p:cNvSpPr>
            <a:spLocks noGrp="1"/>
          </p:cNvSpPr>
          <p:nvPr>
            <p:ph type="title"/>
          </p:nvPr>
        </p:nvSpPr>
        <p:spPr/>
        <p:txBody>
          <a:bodyPr/>
          <a:lstStyle/>
          <a:p>
            <a:r>
              <a:rPr lang="en-GB" dirty="0"/>
              <a:t>  </a:t>
            </a:r>
            <a:r>
              <a:rPr lang="en-GB" dirty="0">
                <a:latin typeface="Aptos Display" panose="020B0004020202020204" pitchFamily="34" charset="0"/>
              </a:rPr>
              <a:t>                  </a:t>
            </a:r>
            <a:r>
              <a:rPr lang="en-GB" b="1" dirty="0">
                <a:latin typeface="Aptos Display" panose="020B0004020202020204" pitchFamily="34" charset="0"/>
              </a:rPr>
              <a:t>Recommendations</a:t>
            </a:r>
            <a:endParaRPr lang="en-ZA" dirty="0"/>
          </a:p>
        </p:txBody>
      </p:sp>
      <p:sp>
        <p:nvSpPr>
          <p:cNvPr id="3" name="Content Placeholder 2">
            <a:extLst>
              <a:ext uri="{FF2B5EF4-FFF2-40B4-BE49-F238E27FC236}">
                <a16:creationId xmlns:a16="http://schemas.microsoft.com/office/drawing/2014/main" id="{8BC87F13-3F00-5CEB-D5C2-8C6DB980704B}"/>
              </a:ext>
            </a:extLst>
          </p:cNvPr>
          <p:cNvSpPr>
            <a:spLocks noGrp="1"/>
          </p:cNvSpPr>
          <p:nvPr>
            <p:ph idx="1"/>
          </p:nvPr>
        </p:nvSpPr>
        <p:spPr>
          <a:xfrm>
            <a:off x="0" y="1106130"/>
            <a:ext cx="12192000" cy="5751870"/>
          </a:xfrm>
        </p:spPr>
        <p:txBody>
          <a:bodyPr/>
          <a:lstStyle/>
          <a:p>
            <a:r>
              <a:rPr lang="en-GB" dirty="0"/>
              <a:t>To increase viewers per channel we must increase marketing for that channel that has lowest views. Example you can market a channel on social media because many people are there.</a:t>
            </a:r>
          </a:p>
          <a:p>
            <a:r>
              <a:rPr lang="en-GB" dirty="0"/>
              <a:t>To increase viewers per race we must increase content for that specific race and maintain the same standard for other race. Example if Chinese race has lowest viewers we bring more content of Chinese to capture their attention.</a:t>
            </a:r>
          </a:p>
          <a:p>
            <a:r>
              <a:rPr lang="en-GB" dirty="0"/>
              <a:t> In order to increase viewers by province we provide make content using the language of that particular province as we saw that Free State and Northen Cape have lowest viewers so we must distribute content using Sesotho and Afrikaans in Free State and use </a:t>
            </a:r>
            <a:r>
              <a:rPr lang="en-GB" dirty="0" err="1"/>
              <a:t>Setwana</a:t>
            </a:r>
            <a:r>
              <a:rPr lang="en-GB" dirty="0"/>
              <a:t> for Northen Cape.</a:t>
            </a:r>
          </a:p>
          <a:p>
            <a:r>
              <a:rPr lang="en-GB" dirty="0"/>
              <a:t>Ealy morning have lowest </a:t>
            </a:r>
            <a:r>
              <a:rPr lang="en-GB" dirty="0" err="1"/>
              <a:t>viwers</a:t>
            </a:r>
            <a:r>
              <a:rPr lang="en-GB" dirty="0"/>
              <a:t> when it comes to Time intervals so to increase the viewers we must have content that is kid related.</a:t>
            </a:r>
          </a:p>
          <a:p>
            <a:r>
              <a:rPr lang="en-GB" dirty="0"/>
              <a:t>To increase viewers on the days of the week we must take some the content that is played on Saturday and Sunday and shift It to Monday to increase views and people will also discover  some interesting content that is played on Monday</a:t>
            </a:r>
          </a:p>
          <a:p>
            <a:endParaRPr lang="en-GB" dirty="0"/>
          </a:p>
          <a:p>
            <a:endParaRPr lang="en-GB" dirty="0"/>
          </a:p>
          <a:p>
            <a:endParaRPr lang="en-GB" dirty="0"/>
          </a:p>
          <a:p>
            <a:endParaRPr lang="en-ZA" dirty="0"/>
          </a:p>
        </p:txBody>
      </p:sp>
    </p:spTree>
    <p:extLst>
      <p:ext uri="{BB962C8B-B14F-4D97-AF65-F5344CB8AC3E}">
        <p14:creationId xmlns:p14="http://schemas.microsoft.com/office/powerpoint/2010/main" val="31712095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334</TotalTime>
  <Words>522</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 Display</vt:lpstr>
      <vt:lpstr>Aptos ExtraBold</vt:lpstr>
      <vt:lpstr>Arial</vt:lpstr>
      <vt:lpstr>Century Gothic</vt:lpstr>
      <vt:lpstr>Wingdings 3</vt:lpstr>
      <vt:lpstr>Ion</vt:lpstr>
      <vt:lpstr>Bright TV Report</vt:lpstr>
      <vt:lpstr>PowerPoint Presentation</vt:lpstr>
      <vt:lpstr>                  1.Viewer By Channels</vt:lpstr>
      <vt:lpstr>                    </vt:lpstr>
      <vt:lpstr>               Viewership by Race</vt:lpstr>
      <vt:lpstr>             Analysis by Provinces</vt:lpstr>
      <vt:lpstr>       Time intervals by viewership analysis</vt:lpstr>
      <vt:lpstr>    Analysis of viewership on days of the week.</vt:lpstr>
      <vt:lpstr>             Viewership by Age Basket</vt:lpstr>
      <vt:lpstr>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Sisonke Magodole</dc:creator>
  <cp:lastModifiedBy>Sisonke Magodole</cp:lastModifiedBy>
  <cp:revision>1</cp:revision>
  <dcterms:created xsi:type="dcterms:W3CDTF">2026-04-19T15:11:29Z</dcterms:created>
  <dcterms:modified xsi:type="dcterms:W3CDTF">2026-04-19T20:46:25Z</dcterms:modified>
</cp:coreProperties>
</file>